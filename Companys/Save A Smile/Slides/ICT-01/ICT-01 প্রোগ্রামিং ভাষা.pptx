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6" r:id="rId3"/>
    <p:sldId id="259" r:id="rId4"/>
    <p:sldId id="258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71" r:id="rId13"/>
    <p:sldId id="273" r:id="rId14"/>
    <p:sldId id="274" r:id="rId15"/>
    <p:sldId id="276" r:id="rId16"/>
    <p:sldId id="275" r:id="rId17"/>
    <p:sldId id="277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78" r:id="rId35"/>
    <p:sldId id="262" r:id="rId36"/>
    <p:sldId id="272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522D6-4B06-4B08-902C-FEBFCC72203F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2086558-5CE3-46E3-B418-6D1FE5E6D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650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522D6-4B06-4B08-902C-FEBFCC72203F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86558-5CE3-46E3-B418-6D1FE5E6D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45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522D6-4B06-4B08-902C-FEBFCC72203F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2086558-5CE3-46E3-B418-6D1FE5E6D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269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522D6-4B06-4B08-902C-FEBFCC72203F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2086558-5CE3-46E3-B418-6D1FE5E6D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868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522D6-4B06-4B08-902C-FEBFCC72203F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2086558-5CE3-46E3-B418-6D1FE5E6D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429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522D6-4B06-4B08-902C-FEBFCC72203F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86558-5CE3-46E3-B418-6D1FE5E6D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135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522D6-4B06-4B08-902C-FEBFCC72203F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86558-5CE3-46E3-B418-6D1FE5E6D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658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522D6-4B06-4B08-902C-FEBFCC72203F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86558-5CE3-46E3-B418-6D1FE5E6D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934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522D6-4B06-4B08-902C-FEBFCC72203F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2086558-5CE3-46E3-B418-6D1FE5E6D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673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522D6-4B06-4B08-902C-FEBFCC72203F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2086558-5CE3-46E3-B418-6D1FE5E6D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968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522D6-4B06-4B08-902C-FEBFCC72203F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2086558-5CE3-46E3-B418-6D1FE5E6D021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298159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522D6-4B06-4B08-902C-FEBFCC72203F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2086558-5CE3-46E3-B418-6D1FE5E6D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2082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522D6-4B06-4B08-902C-FEBFCC72203F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2086558-5CE3-46E3-B418-6D1FE5E6D021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999936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522D6-4B06-4B08-902C-FEBFCC72203F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2086558-5CE3-46E3-B418-6D1FE5E6D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8555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522D6-4B06-4B08-902C-FEBFCC72203F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86558-5CE3-46E3-B418-6D1FE5E6D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2729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522D6-4B06-4B08-902C-FEBFCC72203F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86558-5CE3-46E3-B418-6D1FE5E6D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727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522D6-4B06-4B08-902C-FEBFCC72203F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2086558-5CE3-46E3-B418-6D1FE5E6D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529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0473E779-C1A7-C1FA-6942-34709BDD1B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57938" y="364143"/>
            <a:ext cx="4945132" cy="980136"/>
          </a:xfrm>
        </p:spPr>
        <p:txBody>
          <a:bodyPr>
            <a:normAutofit/>
          </a:bodyPr>
          <a:lstStyle/>
          <a:p>
            <a:r>
              <a:rPr lang="en-US" b="1" dirty="0" err="1"/>
              <a:t>প্রোগ্রামিং</a:t>
            </a:r>
            <a:r>
              <a:rPr lang="en-US" b="1" dirty="0"/>
              <a:t> </a:t>
            </a:r>
            <a:r>
              <a:rPr lang="en-US" b="1" dirty="0" err="1"/>
              <a:t>ভাষা</a:t>
            </a:r>
            <a:endParaRPr lang="en-US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8ED46-0A39-CCFA-B35F-B0183ADB4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3DEE7-3186-4142-A281-AD9BB838A317}" type="datetime1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191D3-7B50-DFA4-95F4-F2585A9F8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Doniel Tripura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89310A-3199-9966-F50A-BCC10E5989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1338" y="1408922"/>
            <a:ext cx="3878333" cy="4498410"/>
          </a:xfrm>
          <a:prstGeom prst="rect">
            <a:avLst/>
          </a:prstGeom>
        </p:spPr>
      </p:pic>
      <p:sp>
        <p:nvSpPr>
          <p:cNvPr id="10" name="Subtitle 2">
            <a:extLst>
              <a:ext uri="{FF2B5EF4-FFF2-40B4-BE49-F238E27FC236}">
                <a16:creationId xmlns:a16="http://schemas.microsoft.com/office/drawing/2014/main" id="{324A7126-24F2-F2A7-3981-18951E7E2DD9}"/>
              </a:ext>
            </a:extLst>
          </p:cNvPr>
          <p:cNvSpPr txBox="1">
            <a:spLocks/>
          </p:cNvSpPr>
          <p:nvPr/>
        </p:nvSpPr>
        <p:spPr>
          <a:xfrm>
            <a:off x="2525438" y="5902790"/>
            <a:ext cx="6410131" cy="453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as-IN" dirty="0"/>
              <a:t>অনলাইন বিশেষ কোচিং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856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7CBB2-D06C-DFFB-2E5C-2573480AE2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29209"/>
            <a:ext cx="4951445" cy="849085"/>
          </a:xfrm>
        </p:spPr>
        <p:txBody>
          <a:bodyPr>
            <a:normAutofit/>
          </a:bodyPr>
          <a:lstStyle/>
          <a:p>
            <a:r>
              <a:rPr lang="en-US" sz="4000" dirty="0" err="1"/>
              <a:t>পাঠ</a:t>
            </a:r>
            <a:r>
              <a:rPr lang="en-US" sz="4000" dirty="0"/>
              <a:t> </a:t>
            </a:r>
            <a:r>
              <a:rPr lang="en-US" sz="4000" dirty="0" err="1"/>
              <a:t>পরিকল্পনা</a:t>
            </a:r>
            <a:endParaRPr lang="en-US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A595E1-6762-C40E-8F94-EA620DC346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173"/>
          <a:stretch/>
        </p:blipFill>
        <p:spPr>
          <a:xfrm>
            <a:off x="1524000" y="1362270"/>
            <a:ext cx="7964121" cy="2705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460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C6ECB-7956-9366-F1B6-8EB746663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ED4A5-F254-D973-5393-7DBA759F0E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29209"/>
            <a:ext cx="4951445" cy="849085"/>
          </a:xfrm>
        </p:spPr>
        <p:txBody>
          <a:bodyPr>
            <a:normAutofit/>
          </a:bodyPr>
          <a:lstStyle/>
          <a:p>
            <a:r>
              <a:rPr lang="en-US" sz="4000" dirty="0" err="1"/>
              <a:t>প্রোগ্রামের</a:t>
            </a:r>
            <a:r>
              <a:rPr lang="en-US" sz="4000" dirty="0"/>
              <a:t> </a:t>
            </a:r>
            <a:r>
              <a:rPr lang="en-US" sz="4000" dirty="0" err="1"/>
              <a:t>ভাষা</a:t>
            </a:r>
            <a:endParaRPr lang="en-US" sz="4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C7FD54-79AE-BE70-2722-AF4C90CA7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964" y="1739315"/>
            <a:ext cx="10478962" cy="235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363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7CFF358-1B81-45E2-F5F1-BE941AD46962}"/>
              </a:ext>
            </a:extLst>
          </p:cNvPr>
          <p:cNvSpPr txBox="1">
            <a:spLocks/>
          </p:cNvSpPr>
          <p:nvPr/>
        </p:nvSpPr>
        <p:spPr>
          <a:xfrm>
            <a:off x="1524000" y="429209"/>
            <a:ext cx="4951445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40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93DE1F5-4EAA-D80F-6913-7CE04326C5A5}"/>
              </a:ext>
            </a:extLst>
          </p:cNvPr>
          <p:cNvSpPr txBox="1">
            <a:spLocks/>
          </p:cNvSpPr>
          <p:nvPr/>
        </p:nvSpPr>
        <p:spPr>
          <a:xfrm>
            <a:off x="1676400" y="581609"/>
            <a:ext cx="4951445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000" dirty="0" err="1"/>
              <a:t>প্রোগ্রামের</a:t>
            </a:r>
            <a:r>
              <a:rPr lang="en-US" sz="4000" dirty="0"/>
              <a:t> </a:t>
            </a:r>
            <a:r>
              <a:rPr lang="en-US" sz="4000" dirty="0" err="1"/>
              <a:t>ভাষা</a:t>
            </a:r>
            <a:endParaRPr lang="en-US" sz="400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7146CA9-8A73-A425-6094-857F5BCC20AA}"/>
              </a:ext>
            </a:extLst>
          </p:cNvPr>
          <p:cNvSpPr txBox="1">
            <a:spLocks/>
          </p:cNvSpPr>
          <p:nvPr/>
        </p:nvSpPr>
        <p:spPr>
          <a:xfrm>
            <a:off x="1676400" y="1583094"/>
            <a:ext cx="10173478" cy="469329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b="1" dirty="0" err="1">
                <a:latin typeface="Arial Black" panose="020B0A04020102020204" pitchFamily="34" charset="0"/>
              </a:rPr>
              <a:t>প্রথম</a:t>
            </a:r>
            <a:r>
              <a:rPr lang="en-US" sz="1800" b="1" dirty="0">
                <a:latin typeface="Arial Black" panose="020B0A04020102020204" pitchFamily="34" charset="0"/>
              </a:rPr>
              <a:t> </a:t>
            </a:r>
            <a:r>
              <a:rPr lang="en-US" sz="1800" b="1" dirty="0" err="1">
                <a:latin typeface="Arial Black" panose="020B0A04020102020204" pitchFamily="34" charset="0"/>
              </a:rPr>
              <a:t>প্রজন্মের</a:t>
            </a:r>
            <a:r>
              <a:rPr lang="en-US" sz="1800" b="1" dirty="0">
                <a:latin typeface="Arial Black" panose="020B0A04020102020204" pitchFamily="34" charset="0"/>
              </a:rPr>
              <a:t> </a:t>
            </a:r>
            <a:r>
              <a:rPr lang="en-US" sz="1800" b="1" dirty="0" err="1">
                <a:latin typeface="Arial Black" panose="020B0A04020102020204" pitchFamily="34" charset="0"/>
              </a:rPr>
              <a:t>ভাষাঃ</a:t>
            </a:r>
            <a:r>
              <a:rPr lang="en-US" sz="1800" b="1" dirty="0">
                <a:latin typeface="Arial Black" panose="020B0A04020102020204" pitchFamily="34" charset="0"/>
              </a:rPr>
              <a:t> (</a:t>
            </a:r>
            <a:r>
              <a:rPr lang="en-US" sz="1800" b="1" dirty="0" err="1">
                <a:latin typeface="Arial Black" panose="020B0A04020102020204" pitchFamily="34" charset="0"/>
              </a:rPr>
              <a:t>মেশিন</a:t>
            </a:r>
            <a:r>
              <a:rPr lang="en-US" sz="1800" b="1" dirty="0">
                <a:latin typeface="Arial Black" panose="020B0A04020102020204" pitchFamily="34" charset="0"/>
              </a:rPr>
              <a:t> </a:t>
            </a:r>
            <a:r>
              <a:rPr lang="en-US" sz="1800" b="1" dirty="0" err="1">
                <a:latin typeface="Arial Black" panose="020B0A04020102020204" pitchFamily="34" charset="0"/>
              </a:rPr>
              <a:t>ভাষা</a:t>
            </a:r>
            <a:r>
              <a:rPr lang="en-US" sz="1800" b="1" dirty="0">
                <a:latin typeface="Arial Black" panose="020B0A04020102020204" pitchFamily="34" charset="0"/>
              </a:rPr>
              <a:t>) </a:t>
            </a:r>
            <a:r>
              <a:rPr lang="en-US" sz="1800" dirty="0" err="1">
                <a:latin typeface="Arial Black" panose="020B0A04020102020204" pitchFamily="34" charset="0"/>
              </a:rPr>
              <a:t>কম্পিউটারের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নিজস্ব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ভাষা</a:t>
            </a:r>
            <a:r>
              <a:rPr lang="en-US" sz="1800" dirty="0">
                <a:latin typeface="Arial Black" panose="020B0A04020102020204" pitchFamily="34" charset="0"/>
              </a:rPr>
              <a:t>। </a:t>
            </a:r>
            <a:r>
              <a:rPr lang="en-US" sz="1800" dirty="0" err="1">
                <a:latin typeface="Arial Black" panose="020B0A04020102020204" pitchFamily="34" charset="0"/>
              </a:rPr>
              <a:t>এটি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কম্পিউটারের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মৌলিক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ভাষা</a:t>
            </a:r>
            <a:r>
              <a:rPr lang="en-US" sz="1800" dirty="0">
                <a:latin typeface="Arial Black" panose="020B0A04020102020204" pitchFamily="34" charset="0"/>
              </a:rPr>
              <a:t>। </a:t>
            </a:r>
            <a:r>
              <a:rPr lang="en-US" sz="1800" dirty="0" err="1">
                <a:latin typeface="Arial Black" panose="020B0A04020102020204" pitchFamily="34" charset="0"/>
              </a:rPr>
              <a:t>এই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ভাষায়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শুধু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মাত্র</a:t>
            </a:r>
            <a:r>
              <a:rPr lang="en-US" sz="1800" dirty="0">
                <a:latin typeface="Arial Black" panose="020B0A04020102020204" pitchFamily="34" charset="0"/>
              </a:rPr>
              <a:t> ০ </a:t>
            </a:r>
            <a:r>
              <a:rPr lang="en-US" sz="1800" dirty="0" err="1">
                <a:latin typeface="Arial Black" panose="020B0A04020102020204" pitchFamily="34" charset="0"/>
              </a:rPr>
              <a:t>এবং</a:t>
            </a:r>
            <a:r>
              <a:rPr lang="en-US" sz="1800" dirty="0">
                <a:latin typeface="Arial Black" panose="020B0A04020102020204" pitchFamily="34" charset="0"/>
              </a:rPr>
              <a:t> ১ </a:t>
            </a:r>
            <a:r>
              <a:rPr lang="en-US" sz="1800" dirty="0" err="1">
                <a:latin typeface="Arial Black" panose="020B0A04020102020204" pitchFamily="34" charset="0"/>
              </a:rPr>
              <a:t>ব্যবহার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করা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হয়</a:t>
            </a:r>
            <a:r>
              <a:rPr lang="en-US" sz="1800" dirty="0">
                <a:latin typeface="Arial Black" panose="020B0A04020102020204" pitchFamily="34" charset="0"/>
              </a:rPr>
              <a:t>।</a:t>
            </a:r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 err="1">
                <a:latin typeface="Arial Black" panose="020B0A04020102020204" pitchFamily="34" charset="0"/>
              </a:rPr>
              <a:t>উদাহরণঃ</a:t>
            </a:r>
            <a:r>
              <a:rPr lang="en-US" sz="1800" dirty="0">
                <a:latin typeface="Arial Black" panose="020B0A04020102020204" pitchFamily="34" charset="0"/>
              </a:rPr>
              <a:t> 1010101111011101101…..101011</a:t>
            </a:r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b="1" dirty="0" err="1">
                <a:latin typeface="Arial Black" panose="020B0A04020102020204" pitchFamily="34" charset="0"/>
              </a:rPr>
              <a:t>দ্বিতীয়</a:t>
            </a:r>
            <a:r>
              <a:rPr lang="en-US" sz="1800" b="1" dirty="0">
                <a:latin typeface="Arial Black" panose="020B0A04020102020204" pitchFamily="34" charset="0"/>
              </a:rPr>
              <a:t> </a:t>
            </a:r>
            <a:r>
              <a:rPr lang="en-US" sz="1800" b="1" dirty="0" err="1">
                <a:latin typeface="Arial Black" panose="020B0A04020102020204" pitchFamily="34" charset="0"/>
              </a:rPr>
              <a:t>প্রজম্নের</a:t>
            </a:r>
            <a:r>
              <a:rPr lang="en-US" sz="1800" b="1" dirty="0">
                <a:latin typeface="Arial Black" panose="020B0A04020102020204" pitchFamily="34" charset="0"/>
              </a:rPr>
              <a:t> </a:t>
            </a:r>
            <a:r>
              <a:rPr lang="en-US" sz="1800" b="1" dirty="0" err="1">
                <a:latin typeface="Arial Black" panose="020B0A04020102020204" pitchFamily="34" charset="0"/>
              </a:rPr>
              <a:t>ভাষাঃ</a:t>
            </a:r>
            <a:r>
              <a:rPr lang="en-US" sz="1800" b="1" dirty="0">
                <a:latin typeface="Arial Black" panose="020B0A04020102020204" pitchFamily="34" charset="0"/>
              </a:rPr>
              <a:t> (</a:t>
            </a:r>
            <a:r>
              <a:rPr lang="en-US" sz="1800" b="1" dirty="0" err="1">
                <a:latin typeface="Arial Black" panose="020B0A04020102020204" pitchFamily="34" charset="0"/>
              </a:rPr>
              <a:t>অ্যাসেম্বলি</a:t>
            </a:r>
            <a:r>
              <a:rPr lang="en-US" sz="1800" b="1" dirty="0">
                <a:latin typeface="Arial Black" panose="020B0A04020102020204" pitchFamily="34" charset="0"/>
              </a:rPr>
              <a:t> </a:t>
            </a:r>
            <a:r>
              <a:rPr lang="en-US" sz="1800" b="1" dirty="0" err="1">
                <a:latin typeface="Arial Black" panose="020B0A04020102020204" pitchFamily="34" charset="0"/>
              </a:rPr>
              <a:t>ভাষা</a:t>
            </a:r>
            <a:r>
              <a:rPr lang="en-US" sz="1800" b="1" dirty="0">
                <a:latin typeface="Arial Black" panose="020B0A04020102020204" pitchFamily="34" charset="0"/>
              </a:rPr>
              <a:t>) </a:t>
            </a:r>
            <a:r>
              <a:rPr lang="en-US" sz="1800" dirty="0" err="1">
                <a:latin typeface="Arial Black" panose="020B0A04020102020204" pitchFamily="34" charset="0"/>
              </a:rPr>
              <a:t>অ্যাসেম্বলি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ভাষার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ক্ষেত্রে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নির্দেষ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এবং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ডেটা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সংকেটের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মাধ্যমে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দেওয়া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হয়</a:t>
            </a:r>
            <a:r>
              <a:rPr lang="en-US" sz="1800" dirty="0">
                <a:latin typeface="Arial Black" panose="020B0A04020102020204" pitchFamily="34" charset="0"/>
              </a:rPr>
              <a:t>। </a:t>
            </a:r>
            <a:r>
              <a:rPr lang="en-US" sz="1800" dirty="0" err="1">
                <a:latin typeface="Arial Black" panose="020B0A04020102020204" pitchFamily="34" charset="0"/>
              </a:rPr>
              <a:t>এই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সংকেতকে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সাংকেতির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কোড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বা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নেমোনিক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বলা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হয়</a:t>
            </a:r>
            <a:r>
              <a:rPr lang="en-US" sz="1800" dirty="0">
                <a:latin typeface="Arial Black" panose="020B0A04020102020204" pitchFamily="34" charset="0"/>
              </a:rPr>
              <a:t>।</a:t>
            </a:r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 err="1">
                <a:latin typeface="Arial Black" panose="020B0A04020102020204" pitchFamily="34" charset="0"/>
              </a:rPr>
              <a:t>উদাহরণঃ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latin typeface="Arial Black" panose="020B0A04020102020204" pitchFamily="34" charset="0"/>
              </a:rPr>
              <a:t>		-&gt;  </a:t>
            </a:r>
            <a:r>
              <a:rPr lang="en-US" sz="1800" dirty="0" err="1">
                <a:latin typeface="Arial Black" panose="020B0A04020102020204" pitchFamily="34" charset="0"/>
              </a:rPr>
              <a:t>যোগের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জন্য</a:t>
            </a:r>
            <a:r>
              <a:rPr lang="en-US" sz="1800" dirty="0">
                <a:latin typeface="Arial Black" panose="020B0A04020102020204" pitchFamily="34" charset="0"/>
              </a:rPr>
              <a:t> 	Add</a:t>
            </a:r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latin typeface="Arial Black" panose="020B0A04020102020204" pitchFamily="34" charset="0"/>
              </a:rPr>
              <a:t>		-&gt;  </a:t>
            </a:r>
            <a:r>
              <a:rPr lang="en-US" sz="1800" dirty="0" err="1">
                <a:latin typeface="Arial Black" panose="020B0A04020102020204" pitchFamily="34" charset="0"/>
              </a:rPr>
              <a:t>বিয়োগের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জন্য</a:t>
            </a:r>
            <a:r>
              <a:rPr lang="en-US" sz="1800" dirty="0">
                <a:latin typeface="Arial Black" panose="020B0A04020102020204" pitchFamily="34" charset="0"/>
              </a:rPr>
              <a:t>  SUB</a:t>
            </a:r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latin typeface="Arial Black" panose="020B0A04020102020204" pitchFamily="34" charset="0"/>
              </a:rPr>
              <a:t>		-&gt;  </a:t>
            </a:r>
            <a:r>
              <a:rPr lang="en-US" sz="1800" dirty="0" err="1">
                <a:latin typeface="Arial Black" panose="020B0A04020102020204" pitchFamily="34" charset="0"/>
              </a:rPr>
              <a:t>গুণের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জন্য</a:t>
            </a:r>
            <a:r>
              <a:rPr lang="en-US" sz="1800" dirty="0">
                <a:latin typeface="Arial Black" panose="020B0A04020102020204" pitchFamily="34" charset="0"/>
              </a:rPr>
              <a:t> 	MUL</a:t>
            </a:r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latin typeface="Arial Black" panose="020B0A04020102020204" pitchFamily="34" charset="0"/>
              </a:rPr>
              <a:t>		-&gt;  </a:t>
            </a:r>
            <a:r>
              <a:rPr lang="en-US" sz="1800" dirty="0" err="1">
                <a:latin typeface="Arial Black" panose="020B0A04020102020204" pitchFamily="34" charset="0"/>
              </a:rPr>
              <a:t>ভাগের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জন্য</a:t>
            </a:r>
            <a:r>
              <a:rPr lang="en-US" sz="1800" dirty="0">
                <a:latin typeface="Arial Black" panose="020B0A04020102020204" pitchFamily="34" charset="0"/>
              </a:rPr>
              <a:t> 	DIV</a:t>
            </a:r>
          </a:p>
        </p:txBody>
      </p:sp>
    </p:spTree>
    <p:extLst>
      <p:ext uri="{BB962C8B-B14F-4D97-AF65-F5344CB8AC3E}">
        <p14:creationId xmlns:p14="http://schemas.microsoft.com/office/powerpoint/2010/main" val="2130130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25A35EC-CCDF-B3B3-D353-BB4B79659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9D43710-E815-073F-0C66-B31F44A6C0BD}"/>
              </a:ext>
            </a:extLst>
          </p:cNvPr>
          <p:cNvSpPr txBox="1">
            <a:spLocks/>
          </p:cNvSpPr>
          <p:nvPr/>
        </p:nvSpPr>
        <p:spPr>
          <a:xfrm>
            <a:off x="1524000" y="429209"/>
            <a:ext cx="4951445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40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3E026BF-9F05-91CE-9F2C-57F6853DC9B7}"/>
              </a:ext>
            </a:extLst>
          </p:cNvPr>
          <p:cNvSpPr txBox="1">
            <a:spLocks/>
          </p:cNvSpPr>
          <p:nvPr/>
        </p:nvSpPr>
        <p:spPr>
          <a:xfrm>
            <a:off x="1676400" y="581609"/>
            <a:ext cx="4951445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000" dirty="0" err="1"/>
              <a:t>প্রোগ্রামের</a:t>
            </a:r>
            <a:r>
              <a:rPr lang="en-US" sz="4000" dirty="0"/>
              <a:t> </a:t>
            </a:r>
            <a:r>
              <a:rPr lang="en-US" sz="4000" dirty="0" err="1"/>
              <a:t>ভাষা</a:t>
            </a:r>
            <a:endParaRPr lang="en-US" sz="4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E260CD-88B7-E88E-C186-2C9A46A75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992" y="2200103"/>
            <a:ext cx="10860016" cy="245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07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55AE96B-7D6F-2ED4-6243-4A0B01E4C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7E4D831-E0CF-F8A7-0E97-6CA75E8A2589}"/>
              </a:ext>
            </a:extLst>
          </p:cNvPr>
          <p:cNvSpPr txBox="1">
            <a:spLocks/>
          </p:cNvSpPr>
          <p:nvPr/>
        </p:nvSpPr>
        <p:spPr>
          <a:xfrm>
            <a:off x="1524000" y="429209"/>
            <a:ext cx="4951445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40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2E7E36F-FA56-5758-A519-2893213DF546}"/>
              </a:ext>
            </a:extLst>
          </p:cNvPr>
          <p:cNvSpPr txBox="1">
            <a:spLocks/>
          </p:cNvSpPr>
          <p:nvPr/>
        </p:nvSpPr>
        <p:spPr>
          <a:xfrm>
            <a:off x="1676400" y="581609"/>
            <a:ext cx="4951445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000" dirty="0" err="1"/>
              <a:t>প্রোগ্রামের</a:t>
            </a:r>
            <a:r>
              <a:rPr lang="en-US" sz="4000" dirty="0"/>
              <a:t> </a:t>
            </a:r>
            <a:r>
              <a:rPr lang="en-US" sz="4000" dirty="0" err="1"/>
              <a:t>ভাষা</a:t>
            </a:r>
            <a:endParaRPr lang="en-US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1E7F1E-CE9E-F7A7-1A60-7B15F86AA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442" y="1358436"/>
            <a:ext cx="8368717" cy="5191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785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D3DAC3F-9E98-2607-B19A-CA2EE03B3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D8A37C1-2DD7-65F0-60AB-09AC3BD27869}"/>
              </a:ext>
            </a:extLst>
          </p:cNvPr>
          <p:cNvSpPr txBox="1">
            <a:spLocks/>
          </p:cNvSpPr>
          <p:nvPr/>
        </p:nvSpPr>
        <p:spPr>
          <a:xfrm>
            <a:off x="1524000" y="429209"/>
            <a:ext cx="4951445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40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17EABEC-673F-94F2-42F2-BE2F537855FF}"/>
              </a:ext>
            </a:extLst>
          </p:cNvPr>
          <p:cNvSpPr txBox="1">
            <a:spLocks/>
          </p:cNvSpPr>
          <p:nvPr/>
        </p:nvSpPr>
        <p:spPr>
          <a:xfrm>
            <a:off x="1676400" y="581609"/>
            <a:ext cx="4951445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000" dirty="0" err="1"/>
              <a:t>প্রোগ্রামের</a:t>
            </a:r>
            <a:r>
              <a:rPr lang="en-US" sz="4000" dirty="0"/>
              <a:t> </a:t>
            </a:r>
            <a:r>
              <a:rPr lang="en-US" sz="4000" dirty="0" err="1"/>
              <a:t>ভাষা</a:t>
            </a:r>
            <a:endParaRPr lang="en-US" sz="4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12CF9D-F374-0936-D9B2-27E0ADC5A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386" y="1504681"/>
            <a:ext cx="9974067" cy="8573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32F1C1-AC18-4289-1B85-E8E682354F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478" r="1"/>
          <a:stretch/>
        </p:blipFill>
        <p:spPr>
          <a:xfrm>
            <a:off x="1154754" y="2362051"/>
            <a:ext cx="10021699" cy="106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700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14414-F5A8-5311-65F4-E8A88FE13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F56636F-DF8C-EAEC-0A27-CDB4C6AE0DF2}"/>
              </a:ext>
            </a:extLst>
          </p:cNvPr>
          <p:cNvSpPr txBox="1">
            <a:spLocks/>
          </p:cNvSpPr>
          <p:nvPr/>
        </p:nvSpPr>
        <p:spPr>
          <a:xfrm>
            <a:off x="1524000" y="429209"/>
            <a:ext cx="4951445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40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84264F1-115B-629C-A867-C19FFE60074F}"/>
              </a:ext>
            </a:extLst>
          </p:cNvPr>
          <p:cNvSpPr txBox="1">
            <a:spLocks/>
          </p:cNvSpPr>
          <p:nvPr/>
        </p:nvSpPr>
        <p:spPr>
          <a:xfrm>
            <a:off x="1676400" y="581609"/>
            <a:ext cx="4951445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000" dirty="0" err="1"/>
              <a:t>প্রোগ্রামের</a:t>
            </a:r>
            <a:r>
              <a:rPr lang="en-US" sz="4000" dirty="0"/>
              <a:t> </a:t>
            </a:r>
            <a:r>
              <a:rPr lang="en-US" sz="4000" dirty="0" err="1"/>
              <a:t>ভাষা</a:t>
            </a:r>
            <a:endParaRPr lang="en-US" sz="4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6F3A5AD-25D1-5D5B-D4E3-51FFB88330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722" t="2067" r="722" b="2807"/>
          <a:stretch/>
        </p:blipFill>
        <p:spPr>
          <a:xfrm>
            <a:off x="1454398" y="1819469"/>
            <a:ext cx="9637768" cy="3219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417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E69CA-8A0E-4046-8D3F-83D097813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E8BAFDD-DA01-8C9D-397D-E917D29508C3}"/>
              </a:ext>
            </a:extLst>
          </p:cNvPr>
          <p:cNvSpPr txBox="1">
            <a:spLocks/>
          </p:cNvSpPr>
          <p:nvPr/>
        </p:nvSpPr>
        <p:spPr>
          <a:xfrm>
            <a:off x="1524000" y="429209"/>
            <a:ext cx="4951445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40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DEBF6D0-8EBD-4336-2FBA-44EA5B989D7D}"/>
              </a:ext>
            </a:extLst>
          </p:cNvPr>
          <p:cNvSpPr txBox="1">
            <a:spLocks/>
          </p:cNvSpPr>
          <p:nvPr/>
        </p:nvSpPr>
        <p:spPr>
          <a:xfrm>
            <a:off x="1676400" y="581609"/>
            <a:ext cx="4951445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000" dirty="0" err="1"/>
              <a:t>প্রোগ্রামের</a:t>
            </a:r>
            <a:r>
              <a:rPr lang="en-US" sz="4000" dirty="0"/>
              <a:t> </a:t>
            </a:r>
            <a:r>
              <a:rPr lang="en-US" sz="4000" dirty="0" err="1"/>
              <a:t>ভাষা</a:t>
            </a:r>
            <a:endParaRPr lang="en-US" sz="400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F0D2209-44A3-4C92-3133-5105E72040A1}"/>
              </a:ext>
            </a:extLst>
          </p:cNvPr>
          <p:cNvSpPr txBox="1">
            <a:spLocks/>
          </p:cNvSpPr>
          <p:nvPr/>
        </p:nvSpPr>
        <p:spPr>
          <a:xfrm>
            <a:off x="1541106" y="1583094"/>
            <a:ext cx="10173478" cy="49949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b="1" dirty="0" err="1">
                <a:latin typeface="Arial Black" panose="020B0A04020102020204" pitchFamily="34" charset="0"/>
              </a:rPr>
              <a:t>তৃতীয়</a:t>
            </a:r>
            <a:r>
              <a:rPr lang="en-US" sz="1800" b="1" dirty="0">
                <a:latin typeface="Arial Black" panose="020B0A04020102020204" pitchFamily="34" charset="0"/>
              </a:rPr>
              <a:t> </a:t>
            </a:r>
            <a:r>
              <a:rPr lang="en-US" sz="1800" b="1" dirty="0" err="1">
                <a:latin typeface="Arial Black" panose="020B0A04020102020204" pitchFamily="34" charset="0"/>
              </a:rPr>
              <a:t>প্রজন্মের</a:t>
            </a:r>
            <a:r>
              <a:rPr lang="en-US" sz="1800" b="1" dirty="0">
                <a:latin typeface="Arial Black" panose="020B0A04020102020204" pitchFamily="34" charset="0"/>
              </a:rPr>
              <a:t> </a:t>
            </a:r>
            <a:r>
              <a:rPr lang="en-US" sz="1800" b="1" dirty="0" err="1">
                <a:latin typeface="Arial Black" panose="020B0A04020102020204" pitchFamily="34" charset="0"/>
              </a:rPr>
              <a:t>ভাষাঃ</a:t>
            </a:r>
            <a:r>
              <a:rPr lang="en-US" sz="1800" b="1" dirty="0">
                <a:latin typeface="Arial Black" panose="020B0A04020102020204" pitchFamily="34" charset="0"/>
              </a:rPr>
              <a:t> (</a:t>
            </a:r>
            <a:r>
              <a:rPr lang="en-US" sz="1800" b="1" dirty="0" err="1">
                <a:latin typeface="Arial Black" panose="020B0A04020102020204" pitchFamily="34" charset="0"/>
              </a:rPr>
              <a:t>উচ্চতর</a:t>
            </a:r>
            <a:r>
              <a:rPr lang="en-US" sz="1800" b="1" dirty="0">
                <a:latin typeface="Arial Black" panose="020B0A04020102020204" pitchFamily="34" charset="0"/>
              </a:rPr>
              <a:t> </a:t>
            </a:r>
            <a:r>
              <a:rPr lang="en-US" sz="1800" b="1" dirty="0" err="1">
                <a:latin typeface="Arial Black" panose="020B0A04020102020204" pitchFamily="34" charset="0"/>
              </a:rPr>
              <a:t>ভাষা</a:t>
            </a:r>
            <a:r>
              <a:rPr lang="en-US" sz="1800" b="1" dirty="0">
                <a:latin typeface="Arial Black" panose="020B0A04020102020204" pitchFamily="34" charset="0"/>
              </a:rPr>
              <a:t>) </a:t>
            </a:r>
            <a:r>
              <a:rPr lang="en-US" sz="1800" dirty="0" err="1">
                <a:latin typeface="Arial Black" panose="020B0A04020102020204" pitchFamily="34" charset="0"/>
              </a:rPr>
              <a:t>এই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ভাষার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সাথে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মানুষের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ভাষার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মিল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আছে</a:t>
            </a:r>
            <a:r>
              <a:rPr lang="en-US" sz="1800" dirty="0">
                <a:latin typeface="Arial Black" panose="020B0A04020102020204" pitchFamily="34" charset="0"/>
              </a:rPr>
              <a:t>। </a:t>
            </a:r>
            <a:r>
              <a:rPr lang="en-US" sz="1800" dirty="0" err="1">
                <a:latin typeface="Arial Black" panose="020B0A04020102020204" pitchFamily="34" charset="0"/>
              </a:rPr>
              <a:t>এটি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কম্পিউটার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সরাসরি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বুঝতে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পারেনা</a:t>
            </a:r>
            <a:r>
              <a:rPr lang="en-US" sz="1800" dirty="0">
                <a:latin typeface="Arial Black" panose="020B0A04020102020204" pitchFamily="34" charset="0"/>
              </a:rPr>
              <a:t>। </a:t>
            </a:r>
            <a:r>
              <a:rPr lang="en-US" sz="1800" dirty="0" err="1">
                <a:latin typeface="Arial Black" panose="020B0A04020102020204" pitchFamily="34" charset="0"/>
              </a:rPr>
              <a:t>যেমনঃ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C, C++, Java, Python, Oracle, Fortran, Visual Basic etc.</a:t>
            </a:r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 err="1">
                <a:latin typeface="Arial Black" panose="020B0A04020102020204" pitchFamily="34" charset="0"/>
              </a:rPr>
              <a:t>উদাহরণঃ</a:t>
            </a:r>
            <a:r>
              <a:rPr lang="en-US" sz="1800" dirty="0">
                <a:latin typeface="Arial Black" panose="020B0A04020102020204" pitchFamily="34" charset="0"/>
              </a:rPr>
              <a:t> 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number = 5;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b="1" dirty="0" err="1">
                <a:latin typeface="Arial Black" panose="020B0A04020102020204" pitchFamily="34" charset="0"/>
              </a:rPr>
              <a:t>চতুর্থ</a:t>
            </a:r>
            <a:r>
              <a:rPr lang="en-US" sz="1800" b="1" dirty="0">
                <a:latin typeface="Arial Black" panose="020B0A04020102020204" pitchFamily="34" charset="0"/>
              </a:rPr>
              <a:t> </a:t>
            </a:r>
            <a:r>
              <a:rPr lang="en-US" sz="1800" b="1" dirty="0" err="1">
                <a:latin typeface="Arial Black" panose="020B0A04020102020204" pitchFamily="34" charset="0"/>
              </a:rPr>
              <a:t>প্রজম্নের</a:t>
            </a:r>
            <a:r>
              <a:rPr lang="en-US" sz="1800" b="1" dirty="0">
                <a:latin typeface="Arial Black" panose="020B0A04020102020204" pitchFamily="34" charset="0"/>
              </a:rPr>
              <a:t> </a:t>
            </a:r>
            <a:r>
              <a:rPr lang="en-US" sz="1800" b="1" dirty="0" err="1">
                <a:latin typeface="Arial Black" panose="020B0A04020102020204" pitchFamily="34" charset="0"/>
              </a:rPr>
              <a:t>ভাষাঃ</a:t>
            </a:r>
            <a:r>
              <a:rPr lang="en-US" sz="1800" b="1" dirty="0">
                <a:latin typeface="Arial Black" panose="020B0A04020102020204" pitchFamily="34" charset="0"/>
              </a:rPr>
              <a:t> (4GL) </a:t>
            </a:r>
            <a:r>
              <a:rPr lang="en-US" sz="1800" dirty="0" err="1">
                <a:latin typeface="Arial Black" panose="020B0A04020102020204" pitchFamily="34" charset="0"/>
              </a:rPr>
              <a:t>এই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ভাষায়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শুধু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বলে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দিতে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হয়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যে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কি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ফলাফল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প্রয়োজন</a:t>
            </a:r>
            <a:r>
              <a:rPr lang="en-US" sz="1800" dirty="0">
                <a:latin typeface="Arial Black" panose="020B0A04020102020204" pitchFamily="34" charset="0"/>
              </a:rPr>
              <a:t>। </a:t>
            </a:r>
            <a:r>
              <a:rPr lang="en-US" sz="1800" dirty="0" err="1">
                <a:latin typeface="Arial Black" panose="020B0A04020102020204" pitchFamily="34" charset="0"/>
              </a:rPr>
              <a:t>সাধারণত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ডেটাবেজকে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নিয়ন্ত্রণ</a:t>
            </a:r>
            <a:r>
              <a:rPr lang="en-US" sz="1800" dirty="0">
                <a:latin typeface="Arial Black" panose="020B0A04020102020204" pitchFamily="34" charset="0"/>
              </a:rPr>
              <a:t>, </a:t>
            </a:r>
            <a:r>
              <a:rPr lang="en-US" sz="1800" dirty="0" err="1">
                <a:latin typeface="Arial Black" panose="020B0A04020102020204" pitchFamily="34" charset="0"/>
              </a:rPr>
              <a:t>পরিচালনা</a:t>
            </a:r>
            <a:r>
              <a:rPr lang="en-US" sz="1800" dirty="0">
                <a:latin typeface="Arial Black" panose="020B0A04020102020204" pitchFamily="34" charset="0"/>
              </a:rPr>
              <a:t>, </a:t>
            </a:r>
            <a:r>
              <a:rPr lang="en-US" sz="1800" dirty="0" err="1">
                <a:latin typeface="Arial Black" panose="020B0A04020102020204" pitchFamily="34" charset="0"/>
              </a:rPr>
              <a:t>কুয়েরি</a:t>
            </a:r>
            <a:r>
              <a:rPr lang="en-US" sz="1800" dirty="0">
                <a:latin typeface="Arial Black" panose="020B0A04020102020204" pitchFamily="34" charset="0"/>
              </a:rPr>
              <a:t> ও </a:t>
            </a:r>
            <a:r>
              <a:rPr lang="en-US" sz="1800" dirty="0" err="1">
                <a:latin typeface="Arial Black" panose="020B0A04020102020204" pitchFamily="34" charset="0"/>
              </a:rPr>
              <a:t>রিপোর্ট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তৈরির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জন্য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এই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ভাষা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ব্যবহার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করা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হয়</a:t>
            </a:r>
            <a:r>
              <a:rPr lang="en-US" sz="1800" dirty="0">
                <a:latin typeface="Arial Black" panose="020B0A04020102020204" pitchFamily="34" charset="0"/>
              </a:rPr>
              <a:t>। </a:t>
            </a:r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 err="1">
                <a:latin typeface="Arial Black" panose="020B0A04020102020204" pitchFamily="34" charset="0"/>
              </a:rPr>
              <a:t>যেমনঃ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SQL, Visual Basic, Oracle </a:t>
            </a:r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 err="1">
                <a:latin typeface="Arial Black" panose="020B0A04020102020204" pitchFamily="34" charset="0"/>
              </a:rPr>
              <a:t>উদাহরণঃ</a:t>
            </a:r>
            <a:r>
              <a:rPr lang="en-US" sz="1800" dirty="0">
                <a:latin typeface="Arial Black" panose="020B0A04020102020204" pitchFamily="34" charset="0"/>
              </a:rPr>
              <a:t> 		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3CDA15-6BED-668D-E150-EEA0B00AE089}"/>
              </a:ext>
            </a:extLst>
          </p:cNvPr>
          <p:cNvSpPr txBox="1"/>
          <p:nvPr/>
        </p:nvSpPr>
        <p:spPr>
          <a:xfrm>
            <a:off x="3047223" y="4833482"/>
            <a:ext cx="6097554" cy="1595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DECLARE @number INT;</a:t>
            </a:r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@number = 5;</a:t>
            </a:r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@number;</a:t>
            </a:r>
          </a:p>
        </p:txBody>
      </p:sp>
    </p:spTree>
    <p:extLst>
      <p:ext uri="{BB962C8B-B14F-4D97-AF65-F5344CB8AC3E}">
        <p14:creationId xmlns:p14="http://schemas.microsoft.com/office/powerpoint/2010/main" val="3883715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4B8A9-C4F7-7700-09B6-F2A803BCE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7F0C2A8-3DDD-607B-4F83-3DCF21F1D143}"/>
              </a:ext>
            </a:extLst>
          </p:cNvPr>
          <p:cNvSpPr txBox="1">
            <a:spLocks/>
          </p:cNvSpPr>
          <p:nvPr/>
        </p:nvSpPr>
        <p:spPr>
          <a:xfrm>
            <a:off x="1524000" y="429209"/>
            <a:ext cx="4951445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40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CD97705-EC5A-6D89-47EA-0E96F14A1D73}"/>
              </a:ext>
            </a:extLst>
          </p:cNvPr>
          <p:cNvSpPr txBox="1">
            <a:spLocks/>
          </p:cNvSpPr>
          <p:nvPr/>
        </p:nvSpPr>
        <p:spPr>
          <a:xfrm>
            <a:off x="1676400" y="581609"/>
            <a:ext cx="4951445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000" dirty="0" err="1"/>
              <a:t>প্রোগ্রামের</a:t>
            </a:r>
            <a:r>
              <a:rPr lang="en-US" sz="4000" dirty="0"/>
              <a:t> </a:t>
            </a:r>
            <a:r>
              <a:rPr lang="en-US" sz="4000" dirty="0" err="1"/>
              <a:t>ভাষা</a:t>
            </a:r>
            <a:endParaRPr lang="en-US" sz="400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99F7805-AED0-68CC-2C84-43F621B50B1B}"/>
              </a:ext>
            </a:extLst>
          </p:cNvPr>
          <p:cNvSpPr txBox="1">
            <a:spLocks/>
          </p:cNvSpPr>
          <p:nvPr/>
        </p:nvSpPr>
        <p:spPr>
          <a:xfrm>
            <a:off x="1524000" y="1583094"/>
            <a:ext cx="10537371" cy="49949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b="1" dirty="0" err="1">
                <a:latin typeface="Arial Black" panose="020B0A04020102020204" pitchFamily="34" charset="0"/>
              </a:rPr>
              <a:t>পঞ্চম</a:t>
            </a:r>
            <a:r>
              <a:rPr lang="en-US" sz="1800" b="1" dirty="0">
                <a:latin typeface="Arial Black" panose="020B0A04020102020204" pitchFamily="34" charset="0"/>
              </a:rPr>
              <a:t> </a:t>
            </a:r>
            <a:r>
              <a:rPr lang="en-US" sz="1800" b="1" dirty="0" err="1">
                <a:latin typeface="Arial Black" panose="020B0A04020102020204" pitchFamily="34" charset="0"/>
              </a:rPr>
              <a:t>প্রজন্মের</a:t>
            </a:r>
            <a:r>
              <a:rPr lang="en-US" sz="1800" b="1" dirty="0">
                <a:latin typeface="Arial Black" panose="020B0A04020102020204" pitchFamily="34" charset="0"/>
              </a:rPr>
              <a:t> </a:t>
            </a:r>
            <a:r>
              <a:rPr lang="en-US" sz="1800" b="1" dirty="0" err="1">
                <a:latin typeface="Arial Black" panose="020B0A04020102020204" pitchFamily="34" charset="0"/>
              </a:rPr>
              <a:t>ভাষাঃ</a:t>
            </a:r>
            <a:r>
              <a:rPr lang="en-US" sz="1800" b="1" dirty="0">
                <a:latin typeface="Arial Black" panose="020B0A04020102020204" pitchFamily="34" charset="0"/>
              </a:rPr>
              <a:t> (</a:t>
            </a:r>
            <a:r>
              <a:rPr lang="en-US" sz="1800" b="1" dirty="0" err="1">
                <a:latin typeface="Arial Black" panose="020B0A04020102020204" pitchFamily="34" charset="0"/>
              </a:rPr>
              <a:t>স্বাভাবিক</a:t>
            </a:r>
            <a:r>
              <a:rPr lang="en-US" sz="1800" b="1" dirty="0">
                <a:latin typeface="Arial Black" panose="020B0A04020102020204" pitchFamily="34" charset="0"/>
              </a:rPr>
              <a:t> </a:t>
            </a:r>
            <a:r>
              <a:rPr lang="en-US" sz="1800" b="1" dirty="0" err="1">
                <a:latin typeface="Arial Black" panose="020B0A04020102020204" pitchFamily="34" charset="0"/>
              </a:rPr>
              <a:t>ভাষা</a:t>
            </a:r>
            <a:r>
              <a:rPr lang="en-US" sz="1800" b="1" dirty="0">
                <a:latin typeface="Arial Black" panose="020B0A04020102020204" pitchFamily="34" charset="0"/>
              </a:rPr>
              <a:t>) </a:t>
            </a:r>
            <a:r>
              <a:rPr lang="en-US" sz="1800" dirty="0" err="1">
                <a:latin typeface="Arial Black" panose="020B0A04020102020204" pitchFamily="34" charset="0"/>
              </a:rPr>
              <a:t>মানুষের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ভাষা</a:t>
            </a:r>
            <a:r>
              <a:rPr lang="en-US" sz="1800" dirty="0">
                <a:latin typeface="Arial Black" panose="020B0A04020102020204" pitchFamily="34" charset="0"/>
              </a:rPr>
              <a:t>। </a:t>
            </a:r>
            <a:r>
              <a:rPr lang="en-US" sz="1800" dirty="0" err="1">
                <a:latin typeface="Arial Black" panose="020B0A04020102020204" pitchFamily="34" charset="0"/>
              </a:rPr>
              <a:t>যেমনঃ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বাংলা</a:t>
            </a:r>
            <a:r>
              <a:rPr lang="en-US" sz="1800" dirty="0">
                <a:latin typeface="Arial Black" panose="020B0A04020102020204" pitchFamily="34" charset="0"/>
              </a:rPr>
              <a:t>, </a:t>
            </a:r>
            <a:r>
              <a:rPr lang="en-US" sz="1800" dirty="0" err="1">
                <a:latin typeface="Arial Black" panose="020B0A04020102020204" pitchFamily="34" charset="0"/>
              </a:rPr>
              <a:t>ইংরেজি</a:t>
            </a:r>
            <a:r>
              <a:rPr lang="en-US" sz="1800" dirty="0">
                <a:latin typeface="Arial Black" panose="020B0A04020102020204" pitchFamily="34" charset="0"/>
              </a:rPr>
              <a:t>, </a:t>
            </a:r>
            <a:r>
              <a:rPr lang="en-US" sz="1800" dirty="0" err="1">
                <a:latin typeface="Arial Black" panose="020B0A04020102020204" pitchFamily="34" charset="0"/>
              </a:rPr>
              <a:t>চাকমা</a:t>
            </a:r>
            <a:r>
              <a:rPr lang="en-US" sz="1800" dirty="0">
                <a:latin typeface="Arial Black" panose="020B0A04020102020204" pitchFamily="34" charset="0"/>
              </a:rPr>
              <a:t>, </a:t>
            </a:r>
            <a:r>
              <a:rPr lang="en-US" sz="1800" dirty="0" err="1">
                <a:latin typeface="Arial Black" panose="020B0A04020102020204" pitchFamily="34" charset="0"/>
              </a:rPr>
              <a:t>ত্রিপুরা</a:t>
            </a:r>
            <a:r>
              <a:rPr lang="en-US" sz="1800" dirty="0">
                <a:latin typeface="Arial Black" panose="020B0A04020102020204" pitchFamily="34" charset="0"/>
              </a:rPr>
              <a:t>, </a:t>
            </a:r>
            <a:r>
              <a:rPr lang="en-US" sz="1800" dirty="0" err="1">
                <a:latin typeface="Arial Black" panose="020B0A04020102020204" pitchFamily="34" charset="0"/>
              </a:rPr>
              <a:t>মারমা</a:t>
            </a:r>
            <a:endParaRPr lang="en-US" sz="1800" dirty="0">
              <a:latin typeface="Arial Black" panose="020B0A04020102020204" pitchFamily="34" charset="0"/>
            </a:endParaRPr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 err="1">
                <a:latin typeface="Arial Black" panose="020B0A04020102020204" pitchFamily="34" charset="0"/>
              </a:rPr>
              <a:t>উদাহরণঃ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</a:p>
          <a:p>
            <a:pPr marL="342900" indent="-342900">
              <a:lnSpc>
                <a:spcPct val="170000"/>
              </a:lnSpc>
              <a:spcBef>
                <a:spcPts val="600"/>
              </a:spcBef>
              <a:buAutoNum type="arabicPeriod"/>
            </a:pPr>
            <a:r>
              <a:rPr lang="en-US" sz="1800" dirty="0">
                <a:latin typeface="Arial Black" panose="020B0A04020102020204" pitchFamily="34" charset="0"/>
              </a:rPr>
              <a:t> ২ ও ৩ </a:t>
            </a:r>
            <a:r>
              <a:rPr lang="en-US" sz="1800" dirty="0" err="1">
                <a:latin typeface="Arial Black" panose="020B0A04020102020204" pitchFamily="34" charset="0"/>
              </a:rPr>
              <a:t>যোগ</a:t>
            </a:r>
            <a:r>
              <a:rPr lang="en-US" sz="1800" dirty="0">
                <a:latin typeface="Arial Black" panose="020B0A04020102020204" pitchFamily="34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</a:rPr>
              <a:t>করো</a:t>
            </a:r>
            <a:r>
              <a:rPr lang="en-US" sz="1800" dirty="0">
                <a:latin typeface="Arial Black" panose="020B0A04020102020204" pitchFamily="34" charset="0"/>
              </a:rPr>
              <a:t>।</a:t>
            </a:r>
          </a:p>
          <a:p>
            <a:pPr marL="457200" indent="-457200">
              <a:lnSpc>
                <a:spcPct val="170000"/>
              </a:lnSpc>
              <a:spcBef>
                <a:spcPts val="600"/>
              </a:spcBef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2 and 3.</a:t>
            </a:r>
          </a:p>
          <a:p>
            <a:pPr marL="457200" indent="-457200">
              <a:lnSpc>
                <a:spcPct val="170000"/>
              </a:lnSpc>
              <a:spcBef>
                <a:spcPts val="600"/>
              </a:spcBef>
              <a:buAutoNum type="arabicPeriod"/>
            </a:pPr>
            <a:r>
              <a:rPr lang="en-US" sz="1800" dirty="0"/>
              <a:t>𑄸 𑄣𑄮𑄄 𑄹 𑄡𑄮𑄉𑄴 𑄉𑄧𑄢𑄴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659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8A5F8-1DD7-5C2F-3FA0-0FEDBE1D4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9AB291E-3FDA-8262-D31C-C9E2E2B1250E}"/>
              </a:ext>
            </a:extLst>
          </p:cNvPr>
          <p:cNvSpPr txBox="1">
            <a:spLocks/>
          </p:cNvSpPr>
          <p:nvPr/>
        </p:nvSpPr>
        <p:spPr>
          <a:xfrm>
            <a:off x="1524000" y="429209"/>
            <a:ext cx="4951445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40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2AA1D39-AA5F-B58F-9832-B7E47298B778}"/>
              </a:ext>
            </a:extLst>
          </p:cNvPr>
          <p:cNvSpPr txBox="1">
            <a:spLocks/>
          </p:cNvSpPr>
          <p:nvPr/>
        </p:nvSpPr>
        <p:spPr>
          <a:xfrm>
            <a:off x="1676400" y="581609"/>
            <a:ext cx="6637176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000" dirty="0" err="1"/>
              <a:t>অনুবাদক</a:t>
            </a:r>
            <a:r>
              <a:rPr lang="en-US" sz="4000" dirty="0"/>
              <a:t>(Translator Program)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FEC1C15-C713-C522-4173-508D5C181A29}"/>
              </a:ext>
            </a:extLst>
          </p:cNvPr>
          <p:cNvSpPr txBox="1">
            <a:spLocks/>
          </p:cNvSpPr>
          <p:nvPr/>
        </p:nvSpPr>
        <p:spPr>
          <a:xfrm>
            <a:off x="1524000" y="1583094"/>
            <a:ext cx="10537371" cy="49949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170000"/>
              </a:lnSpc>
              <a:spcBef>
                <a:spcPts val="6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4E8FC3-EA82-A0A0-D879-2CCF83F4B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2076" y="1735494"/>
            <a:ext cx="6849431" cy="103837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43F16C4-FB3E-A3DB-3B6A-99D35452C8E8}"/>
              </a:ext>
            </a:extLst>
          </p:cNvPr>
          <p:cNvSpPr txBox="1">
            <a:spLocks/>
          </p:cNvSpPr>
          <p:nvPr/>
        </p:nvSpPr>
        <p:spPr>
          <a:xfrm>
            <a:off x="1676400" y="3041779"/>
            <a:ext cx="10537371" cy="49949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 err="1">
                <a:latin typeface="Arial Black" panose="020B0A04020102020204" pitchFamily="34" charset="0"/>
                <a:cs typeface="Times New Roman" panose="02020603050405020304" pitchFamily="18" charset="0"/>
              </a:rPr>
              <a:t>অনুবাদক</a:t>
            </a:r>
            <a:r>
              <a:rPr lang="en-US" sz="1800" dirty="0">
                <a:latin typeface="Arial Black" panose="020B0A040201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  <a:cs typeface="Times New Roman" panose="02020603050405020304" pitchFamily="18" charset="0"/>
              </a:rPr>
              <a:t>প্রোগ্রাম</a:t>
            </a:r>
            <a:r>
              <a:rPr lang="en-US" sz="1800" dirty="0">
                <a:latin typeface="Arial Black" panose="020B0A04020102020204" pitchFamily="34" charset="0"/>
                <a:cs typeface="Times New Roman" panose="02020603050405020304" pitchFamily="18" charset="0"/>
              </a:rPr>
              <a:t>/</a:t>
            </a:r>
            <a:r>
              <a:rPr lang="en-US" sz="1800" dirty="0" err="1">
                <a:latin typeface="Arial Black" panose="020B0A04020102020204" pitchFamily="34" charset="0"/>
                <a:cs typeface="Times New Roman" panose="02020603050405020304" pitchFamily="18" charset="0"/>
              </a:rPr>
              <a:t>সফটওয়্যার</a:t>
            </a:r>
            <a:r>
              <a:rPr lang="en-US" sz="1800" dirty="0">
                <a:latin typeface="Arial Black" panose="020B0A040201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  <a:cs typeface="Times New Roman" panose="02020603050405020304" pitchFamily="18" charset="0"/>
              </a:rPr>
              <a:t>তিন</a:t>
            </a:r>
            <a:r>
              <a:rPr lang="en-US" sz="1800" dirty="0">
                <a:latin typeface="Arial Black" panose="020B0A040201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Arial Black" panose="020B0A04020102020204" pitchFamily="34" charset="0"/>
                <a:cs typeface="Times New Roman" panose="02020603050405020304" pitchFamily="18" charset="0"/>
              </a:rPr>
              <a:t>প্রকার</a:t>
            </a:r>
            <a:r>
              <a:rPr lang="en-US" sz="1800" dirty="0">
                <a:latin typeface="Arial Black" panose="020B0A04020102020204" pitchFamily="34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lnSpc>
                <a:spcPct val="170000"/>
              </a:lnSpc>
              <a:spcBef>
                <a:spcPts val="600"/>
              </a:spcBef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অ্যাসেম্বলার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(Assembler)</a:t>
            </a:r>
          </a:p>
          <a:p>
            <a:pPr marL="457200" indent="-457200">
              <a:lnSpc>
                <a:spcPct val="170000"/>
              </a:lnSpc>
              <a:spcBef>
                <a:spcPts val="600"/>
              </a:spcBef>
              <a:buAutoNum type="arabicPeriod"/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কম্পাইলার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(Compiler)</a:t>
            </a:r>
          </a:p>
          <a:p>
            <a:pPr marL="457200" indent="-457200">
              <a:lnSpc>
                <a:spcPct val="170000"/>
              </a:lnSpc>
              <a:spcBef>
                <a:spcPts val="600"/>
              </a:spcBef>
              <a:buAutoNum type="arabicPeriod"/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ইন্টারপ্রেটার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(Interpreter)</a:t>
            </a:r>
          </a:p>
          <a:p>
            <a:pPr marL="457200" indent="-457200">
              <a:lnSpc>
                <a:spcPct val="170000"/>
              </a:lnSpc>
              <a:spcBef>
                <a:spcPts val="600"/>
              </a:spcBef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17398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B140E-E42E-6CC1-B957-487135820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133AA82-FA81-4C0A-32E9-CFDDCB621BD2}"/>
              </a:ext>
            </a:extLst>
          </p:cNvPr>
          <p:cNvSpPr txBox="1">
            <a:spLocks/>
          </p:cNvSpPr>
          <p:nvPr/>
        </p:nvSpPr>
        <p:spPr>
          <a:xfrm>
            <a:off x="1524000" y="429209"/>
            <a:ext cx="4951445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40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0BE473E-4ECD-5F73-77A3-7956125B7FE4}"/>
              </a:ext>
            </a:extLst>
          </p:cNvPr>
          <p:cNvSpPr txBox="1">
            <a:spLocks/>
          </p:cNvSpPr>
          <p:nvPr/>
        </p:nvSpPr>
        <p:spPr>
          <a:xfrm>
            <a:off x="1676400" y="581609"/>
            <a:ext cx="6637176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000" dirty="0" err="1"/>
              <a:t>অনুবাদক</a:t>
            </a:r>
            <a:r>
              <a:rPr lang="en-US" sz="4000" dirty="0"/>
              <a:t>(Translator Program)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7D74662-AE63-DEB6-293F-F5A2261E4311}"/>
              </a:ext>
            </a:extLst>
          </p:cNvPr>
          <p:cNvSpPr txBox="1">
            <a:spLocks/>
          </p:cNvSpPr>
          <p:nvPr/>
        </p:nvSpPr>
        <p:spPr>
          <a:xfrm>
            <a:off x="1524000" y="1583094"/>
            <a:ext cx="10537371" cy="49949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170000"/>
              </a:lnSpc>
              <a:spcBef>
                <a:spcPts val="6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36FAC5-0E49-CA94-95D8-409DFEF59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861" y="1426029"/>
            <a:ext cx="10050278" cy="36009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A81CB17-1BE4-8DC7-86C6-198AA645C1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1" t="10459" r="329"/>
          <a:stretch/>
        </p:blipFill>
        <p:spPr>
          <a:xfrm>
            <a:off x="1070861" y="4891057"/>
            <a:ext cx="10050278" cy="767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593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CE28B-05DD-39E9-D2B7-E48872D4E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26B1131-EF9E-87FE-B539-0F82B1C3901F}"/>
              </a:ext>
            </a:extLst>
          </p:cNvPr>
          <p:cNvSpPr txBox="1">
            <a:spLocks/>
          </p:cNvSpPr>
          <p:nvPr/>
        </p:nvSpPr>
        <p:spPr>
          <a:xfrm>
            <a:off x="1524000" y="429209"/>
            <a:ext cx="4951445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40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A62DF7A-6B0B-37DA-0586-C76D5A95587C}"/>
              </a:ext>
            </a:extLst>
          </p:cNvPr>
          <p:cNvSpPr txBox="1">
            <a:spLocks/>
          </p:cNvSpPr>
          <p:nvPr/>
        </p:nvSpPr>
        <p:spPr>
          <a:xfrm>
            <a:off x="1676400" y="581609"/>
            <a:ext cx="6637176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000" dirty="0" err="1"/>
              <a:t>অনুবাদক</a:t>
            </a:r>
            <a:r>
              <a:rPr lang="en-US" sz="4000" dirty="0"/>
              <a:t>(Translator Program)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7CC4A4C-38D7-58E6-7C08-EBA905D27909}"/>
              </a:ext>
            </a:extLst>
          </p:cNvPr>
          <p:cNvSpPr txBox="1">
            <a:spLocks/>
          </p:cNvSpPr>
          <p:nvPr/>
        </p:nvSpPr>
        <p:spPr>
          <a:xfrm>
            <a:off x="1524000" y="1583094"/>
            <a:ext cx="10537371" cy="49949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170000"/>
              </a:lnSpc>
              <a:spcBef>
                <a:spcPts val="6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ECF7B8-BAA2-AA05-7C0E-5741CC7807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80"/>
          <a:stretch/>
        </p:blipFill>
        <p:spPr>
          <a:xfrm>
            <a:off x="1078400" y="1348127"/>
            <a:ext cx="10035199" cy="522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1326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1F33E-7F0E-76E9-8446-98D46E4D5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F7EC870-8600-500F-1B0E-D667EEA96C11}"/>
              </a:ext>
            </a:extLst>
          </p:cNvPr>
          <p:cNvSpPr txBox="1">
            <a:spLocks/>
          </p:cNvSpPr>
          <p:nvPr/>
        </p:nvSpPr>
        <p:spPr>
          <a:xfrm>
            <a:off x="1524000" y="429209"/>
            <a:ext cx="4951445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40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49DCB67-07D2-5F5E-E861-8756C7293CB9}"/>
              </a:ext>
            </a:extLst>
          </p:cNvPr>
          <p:cNvSpPr txBox="1">
            <a:spLocks/>
          </p:cNvSpPr>
          <p:nvPr/>
        </p:nvSpPr>
        <p:spPr>
          <a:xfrm>
            <a:off x="1676400" y="581609"/>
            <a:ext cx="6637176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000" dirty="0" err="1"/>
              <a:t>অনুবাদক</a:t>
            </a:r>
            <a:r>
              <a:rPr lang="en-US" sz="4000" dirty="0"/>
              <a:t>(Translator Program)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7129E3D-9449-CA39-E1CE-75724DCED284}"/>
              </a:ext>
            </a:extLst>
          </p:cNvPr>
          <p:cNvSpPr txBox="1">
            <a:spLocks/>
          </p:cNvSpPr>
          <p:nvPr/>
        </p:nvSpPr>
        <p:spPr>
          <a:xfrm>
            <a:off x="1524000" y="1583094"/>
            <a:ext cx="10537371" cy="49949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170000"/>
              </a:lnSpc>
              <a:spcBef>
                <a:spcPts val="6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D16AAB-3D14-4C97-E7E7-7A3156D2C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680" y="1430694"/>
            <a:ext cx="7983064" cy="228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5424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794C564-EF0D-DBA5-ADFE-0D05857E8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BBA554F-BB8C-3135-0C5B-6D2EEA04E4EF}"/>
              </a:ext>
            </a:extLst>
          </p:cNvPr>
          <p:cNvSpPr txBox="1">
            <a:spLocks/>
          </p:cNvSpPr>
          <p:nvPr/>
        </p:nvSpPr>
        <p:spPr>
          <a:xfrm>
            <a:off x="1524000" y="429209"/>
            <a:ext cx="4951445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40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F95A3DC-85B4-2B86-1747-A6A6850F2A6A}"/>
              </a:ext>
            </a:extLst>
          </p:cNvPr>
          <p:cNvSpPr txBox="1">
            <a:spLocks/>
          </p:cNvSpPr>
          <p:nvPr/>
        </p:nvSpPr>
        <p:spPr>
          <a:xfrm>
            <a:off x="1676400" y="581609"/>
            <a:ext cx="6637176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000" dirty="0" err="1"/>
              <a:t>অনুবাদক</a:t>
            </a:r>
            <a:r>
              <a:rPr lang="en-US" sz="4000" dirty="0"/>
              <a:t>(Translator Program)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011C58C-D2A2-D32B-D348-EF6CFD0C0174}"/>
              </a:ext>
            </a:extLst>
          </p:cNvPr>
          <p:cNvSpPr txBox="1">
            <a:spLocks/>
          </p:cNvSpPr>
          <p:nvPr/>
        </p:nvSpPr>
        <p:spPr>
          <a:xfrm>
            <a:off x="1524000" y="1583094"/>
            <a:ext cx="10537371" cy="49949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170000"/>
              </a:lnSpc>
              <a:spcBef>
                <a:spcPts val="6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8F4BCC-E92A-45F1-1717-C10FBBB2B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283" y="1523734"/>
            <a:ext cx="9383434" cy="381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2145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5D133-995E-0C59-338B-A63F8E74D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2C7C01E-F129-3A45-0CA3-4C5820A200A0}"/>
              </a:ext>
            </a:extLst>
          </p:cNvPr>
          <p:cNvSpPr txBox="1">
            <a:spLocks/>
          </p:cNvSpPr>
          <p:nvPr/>
        </p:nvSpPr>
        <p:spPr>
          <a:xfrm>
            <a:off x="1524000" y="429209"/>
            <a:ext cx="4951445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40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E39BAC7-79A0-103A-BEA0-3F5B29595EA8}"/>
              </a:ext>
            </a:extLst>
          </p:cNvPr>
          <p:cNvSpPr txBox="1">
            <a:spLocks/>
          </p:cNvSpPr>
          <p:nvPr/>
        </p:nvSpPr>
        <p:spPr>
          <a:xfrm>
            <a:off x="1676400" y="581609"/>
            <a:ext cx="6637176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000" dirty="0" err="1"/>
              <a:t>অনুবাদক</a:t>
            </a:r>
            <a:r>
              <a:rPr lang="en-US" sz="4000" dirty="0"/>
              <a:t>(Translator Program)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679E50E-8633-CAEB-53CC-6CB301C7D300}"/>
              </a:ext>
            </a:extLst>
          </p:cNvPr>
          <p:cNvSpPr txBox="1">
            <a:spLocks/>
          </p:cNvSpPr>
          <p:nvPr/>
        </p:nvSpPr>
        <p:spPr>
          <a:xfrm>
            <a:off x="1524000" y="1583094"/>
            <a:ext cx="10537371" cy="49949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170000"/>
              </a:lnSpc>
              <a:spcBef>
                <a:spcPts val="6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266A4C-0B72-8C2D-BE92-F268FC174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261" y="1430694"/>
            <a:ext cx="10145541" cy="14480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A1F29D-5000-1C58-7E3C-A94526ACBE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26" r="1326"/>
          <a:stretch/>
        </p:blipFill>
        <p:spPr>
          <a:xfrm>
            <a:off x="911261" y="2878696"/>
            <a:ext cx="10145541" cy="355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4797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9D0CE86-7A86-E3F0-E5F8-6CB9D8DA8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51B7437-C7BC-DC60-4A76-2EDA3E4F1429}"/>
              </a:ext>
            </a:extLst>
          </p:cNvPr>
          <p:cNvSpPr txBox="1">
            <a:spLocks/>
          </p:cNvSpPr>
          <p:nvPr/>
        </p:nvSpPr>
        <p:spPr>
          <a:xfrm>
            <a:off x="1524000" y="429209"/>
            <a:ext cx="4951445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40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5151CD6-C237-09D7-DFFE-8C4AC0A9B71D}"/>
              </a:ext>
            </a:extLst>
          </p:cNvPr>
          <p:cNvSpPr txBox="1">
            <a:spLocks/>
          </p:cNvSpPr>
          <p:nvPr/>
        </p:nvSpPr>
        <p:spPr>
          <a:xfrm>
            <a:off x="1676400" y="581609"/>
            <a:ext cx="6637176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000" dirty="0" err="1"/>
              <a:t>অনুবাদক</a:t>
            </a:r>
            <a:r>
              <a:rPr lang="en-US" sz="4000" dirty="0"/>
              <a:t>(Translator Program)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395738D-7A45-8E6F-95EB-C9C0C6AA08F9}"/>
              </a:ext>
            </a:extLst>
          </p:cNvPr>
          <p:cNvSpPr txBox="1">
            <a:spLocks/>
          </p:cNvSpPr>
          <p:nvPr/>
        </p:nvSpPr>
        <p:spPr>
          <a:xfrm>
            <a:off x="1524000" y="1583094"/>
            <a:ext cx="10537371" cy="49949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170000"/>
              </a:lnSpc>
              <a:spcBef>
                <a:spcPts val="6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774393-BCC5-2953-A9CB-FA3804EF22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78"/>
          <a:stretch/>
        </p:blipFill>
        <p:spPr>
          <a:xfrm>
            <a:off x="1358738" y="1430694"/>
            <a:ext cx="8821381" cy="3105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4687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DBE2D68-B715-00BA-D7DE-F1EF08283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F4FE624-F736-6751-EA03-6D91DAF52846}"/>
              </a:ext>
            </a:extLst>
          </p:cNvPr>
          <p:cNvSpPr txBox="1">
            <a:spLocks/>
          </p:cNvSpPr>
          <p:nvPr/>
        </p:nvSpPr>
        <p:spPr>
          <a:xfrm>
            <a:off x="1524000" y="429209"/>
            <a:ext cx="4951445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40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4E2743B-CF49-1129-6C2F-81678318FD35}"/>
              </a:ext>
            </a:extLst>
          </p:cNvPr>
          <p:cNvSpPr txBox="1">
            <a:spLocks/>
          </p:cNvSpPr>
          <p:nvPr/>
        </p:nvSpPr>
        <p:spPr>
          <a:xfrm>
            <a:off x="1676400" y="581609"/>
            <a:ext cx="6637176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000" dirty="0" err="1"/>
              <a:t>অনুবাদক</a:t>
            </a:r>
            <a:r>
              <a:rPr lang="en-US" sz="4000" dirty="0"/>
              <a:t>(Translator Program)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0C75650-0058-7433-C95D-F096BD8120E1}"/>
              </a:ext>
            </a:extLst>
          </p:cNvPr>
          <p:cNvSpPr txBox="1">
            <a:spLocks/>
          </p:cNvSpPr>
          <p:nvPr/>
        </p:nvSpPr>
        <p:spPr>
          <a:xfrm>
            <a:off x="1524000" y="1583094"/>
            <a:ext cx="10537371" cy="49949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170000"/>
              </a:lnSpc>
              <a:spcBef>
                <a:spcPts val="6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047090-64E5-803F-EF89-C32CC2FF6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128" y="1278294"/>
            <a:ext cx="10183646" cy="547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5401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004EEDA-22AF-DDC5-9BD9-BFE5FA118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3863B58-A705-8938-C9CE-D98AE76DFB59}"/>
              </a:ext>
            </a:extLst>
          </p:cNvPr>
          <p:cNvSpPr txBox="1">
            <a:spLocks/>
          </p:cNvSpPr>
          <p:nvPr/>
        </p:nvSpPr>
        <p:spPr>
          <a:xfrm>
            <a:off x="1524000" y="429209"/>
            <a:ext cx="4951445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40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20EFCE9-5049-38BA-1B4E-1761796CF59B}"/>
              </a:ext>
            </a:extLst>
          </p:cNvPr>
          <p:cNvSpPr txBox="1">
            <a:spLocks/>
          </p:cNvSpPr>
          <p:nvPr/>
        </p:nvSpPr>
        <p:spPr>
          <a:xfrm>
            <a:off x="1676399" y="581609"/>
            <a:ext cx="8587273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400" dirty="0" err="1"/>
              <a:t>প্রোগ্রামিং</a:t>
            </a:r>
            <a:r>
              <a:rPr lang="en-US" sz="3400" dirty="0"/>
              <a:t> </a:t>
            </a:r>
            <a:r>
              <a:rPr lang="en-US" sz="3400" dirty="0" err="1"/>
              <a:t>অসংগতি</a:t>
            </a:r>
            <a:r>
              <a:rPr lang="en-US" sz="3400" dirty="0"/>
              <a:t>(Programming Error)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9CE188D-B75D-D766-4888-556DA75ACC6F}"/>
              </a:ext>
            </a:extLst>
          </p:cNvPr>
          <p:cNvSpPr txBox="1">
            <a:spLocks/>
          </p:cNvSpPr>
          <p:nvPr/>
        </p:nvSpPr>
        <p:spPr>
          <a:xfrm>
            <a:off x="1524000" y="1583094"/>
            <a:ext cx="10537371" cy="49949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170000"/>
              </a:lnSpc>
              <a:spcBef>
                <a:spcPts val="6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8B5D1A-723A-BE20-2DD2-B9AB00695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887" y="1278294"/>
            <a:ext cx="9850225" cy="506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4204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8E4DB-821C-9F07-F69D-196BA3F59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2CBD06A-E2FD-2909-9659-E4C702D7CF93}"/>
              </a:ext>
            </a:extLst>
          </p:cNvPr>
          <p:cNvSpPr txBox="1">
            <a:spLocks/>
          </p:cNvSpPr>
          <p:nvPr/>
        </p:nvSpPr>
        <p:spPr>
          <a:xfrm>
            <a:off x="1524000" y="429209"/>
            <a:ext cx="4951445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40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8669DAB-54D5-7E4A-22F4-B2FA6D3A0215}"/>
              </a:ext>
            </a:extLst>
          </p:cNvPr>
          <p:cNvSpPr txBox="1">
            <a:spLocks/>
          </p:cNvSpPr>
          <p:nvPr/>
        </p:nvSpPr>
        <p:spPr>
          <a:xfrm>
            <a:off x="1676400" y="581609"/>
            <a:ext cx="9716278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400" dirty="0" err="1"/>
              <a:t>অ্যালগরিদম</a:t>
            </a:r>
            <a:r>
              <a:rPr lang="en-US" sz="3400" dirty="0"/>
              <a:t> ও </a:t>
            </a:r>
            <a:r>
              <a:rPr lang="en-US" sz="3400" dirty="0" err="1"/>
              <a:t>ফ্লো</a:t>
            </a:r>
            <a:r>
              <a:rPr lang="en-US" sz="3400" dirty="0"/>
              <a:t> </a:t>
            </a:r>
            <a:r>
              <a:rPr lang="en-US" sz="3400" dirty="0" err="1"/>
              <a:t>চার্ট</a:t>
            </a:r>
            <a:r>
              <a:rPr lang="en-US" sz="3400" dirty="0"/>
              <a:t>(Algorithm and flow chart)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7B375ED-F5AF-1805-89C9-6DE5C397D2EF}"/>
              </a:ext>
            </a:extLst>
          </p:cNvPr>
          <p:cNvSpPr txBox="1">
            <a:spLocks/>
          </p:cNvSpPr>
          <p:nvPr/>
        </p:nvSpPr>
        <p:spPr>
          <a:xfrm>
            <a:off x="1524000" y="1583094"/>
            <a:ext cx="10537371" cy="49949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170000"/>
              </a:lnSpc>
              <a:spcBef>
                <a:spcPts val="6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6CFE67-1609-67A4-7470-9388D5DBB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248" y="1278294"/>
            <a:ext cx="10107436" cy="15623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9828159-F645-BAE2-D999-B7E69D2025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1" r="281"/>
          <a:stretch/>
        </p:blipFill>
        <p:spPr>
          <a:xfrm>
            <a:off x="1154247" y="2840612"/>
            <a:ext cx="10107437" cy="152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8944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82CE771-F48B-E943-0E07-BA8AB7519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F6C8FB0-82B0-7927-9AA1-59B760CFD753}"/>
              </a:ext>
            </a:extLst>
          </p:cNvPr>
          <p:cNvSpPr txBox="1">
            <a:spLocks/>
          </p:cNvSpPr>
          <p:nvPr/>
        </p:nvSpPr>
        <p:spPr>
          <a:xfrm>
            <a:off x="1524000" y="429209"/>
            <a:ext cx="4951445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400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8736B4F-80B5-718F-F0A6-B1F8BF428B78}"/>
              </a:ext>
            </a:extLst>
          </p:cNvPr>
          <p:cNvSpPr txBox="1">
            <a:spLocks/>
          </p:cNvSpPr>
          <p:nvPr/>
        </p:nvSpPr>
        <p:spPr>
          <a:xfrm>
            <a:off x="1524000" y="1583094"/>
            <a:ext cx="10537371" cy="49949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170000"/>
              </a:lnSpc>
              <a:spcBef>
                <a:spcPts val="6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C7D2F4-AC90-40AD-D3D1-0D4B49203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639" y="1278294"/>
            <a:ext cx="5668166" cy="408679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71D0497C-F036-00A9-6E76-D245315D56D6}"/>
              </a:ext>
            </a:extLst>
          </p:cNvPr>
          <p:cNvSpPr txBox="1">
            <a:spLocks/>
          </p:cNvSpPr>
          <p:nvPr/>
        </p:nvSpPr>
        <p:spPr>
          <a:xfrm>
            <a:off x="1676400" y="581609"/>
            <a:ext cx="9716278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400" dirty="0" err="1"/>
              <a:t>অ্যালগরিদম</a:t>
            </a:r>
            <a:r>
              <a:rPr lang="en-US" sz="3400" dirty="0"/>
              <a:t> ও </a:t>
            </a:r>
            <a:r>
              <a:rPr lang="en-US" sz="3400" dirty="0" err="1"/>
              <a:t>ফ্লো</a:t>
            </a:r>
            <a:r>
              <a:rPr lang="en-US" sz="3400" dirty="0"/>
              <a:t> </a:t>
            </a:r>
            <a:r>
              <a:rPr lang="en-US" sz="3400" dirty="0" err="1"/>
              <a:t>চার্ট</a:t>
            </a:r>
            <a:r>
              <a:rPr lang="en-US" sz="3400" dirty="0"/>
              <a:t>(Algorithm and flow chart)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F1B4D4-F176-9AD1-8DBD-7094016F0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7536" y="1278294"/>
            <a:ext cx="5100104" cy="2531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4143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0F4CD-91D6-AABA-B215-396D0CC01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6176775-7344-8415-18BA-6C11CDFB1816}"/>
              </a:ext>
            </a:extLst>
          </p:cNvPr>
          <p:cNvSpPr txBox="1">
            <a:spLocks/>
          </p:cNvSpPr>
          <p:nvPr/>
        </p:nvSpPr>
        <p:spPr>
          <a:xfrm>
            <a:off x="1524000" y="429209"/>
            <a:ext cx="4951445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400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9632412-4C1D-93C7-9883-3AFB3D49EC47}"/>
              </a:ext>
            </a:extLst>
          </p:cNvPr>
          <p:cNvSpPr txBox="1">
            <a:spLocks/>
          </p:cNvSpPr>
          <p:nvPr/>
        </p:nvSpPr>
        <p:spPr>
          <a:xfrm>
            <a:off x="1524000" y="1583094"/>
            <a:ext cx="10537371" cy="49949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170000"/>
              </a:lnSpc>
              <a:spcBef>
                <a:spcPts val="6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D7D0838-93CF-A44E-94BE-4C2058A6A584}"/>
              </a:ext>
            </a:extLst>
          </p:cNvPr>
          <p:cNvSpPr txBox="1">
            <a:spLocks/>
          </p:cNvSpPr>
          <p:nvPr/>
        </p:nvSpPr>
        <p:spPr>
          <a:xfrm>
            <a:off x="1676400" y="581609"/>
            <a:ext cx="9716278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400" dirty="0" err="1"/>
              <a:t>অ্যালগরিদম</a:t>
            </a:r>
            <a:r>
              <a:rPr lang="en-US" sz="3400" dirty="0"/>
              <a:t> ও </a:t>
            </a:r>
            <a:r>
              <a:rPr lang="en-US" sz="3400" dirty="0" err="1"/>
              <a:t>ফ্লো</a:t>
            </a:r>
            <a:r>
              <a:rPr lang="en-US" sz="3400" dirty="0"/>
              <a:t> </a:t>
            </a:r>
            <a:r>
              <a:rPr lang="en-US" sz="3400" dirty="0" err="1"/>
              <a:t>চার্ট</a:t>
            </a:r>
            <a:r>
              <a:rPr lang="en-US" sz="3400" dirty="0"/>
              <a:t>(Algorithm and flow chart)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C6B98D0-A6E0-CEE7-F132-8B2139B9E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98" y="1490392"/>
            <a:ext cx="10059804" cy="387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4491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8C000-395F-F15E-42AD-5F3EEAD68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F64EC0B-D79A-CFC9-2ABE-86F28EF12361}"/>
              </a:ext>
            </a:extLst>
          </p:cNvPr>
          <p:cNvSpPr txBox="1">
            <a:spLocks/>
          </p:cNvSpPr>
          <p:nvPr/>
        </p:nvSpPr>
        <p:spPr>
          <a:xfrm>
            <a:off x="1524000" y="429209"/>
            <a:ext cx="4951445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400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15A2962-A7FA-CF3F-4B13-3D6B2C4BCA2C}"/>
              </a:ext>
            </a:extLst>
          </p:cNvPr>
          <p:cNvSpPr txBox="1">
            <a:spLocks/>
          </p:cNvSpPr>
          <p:nvPr/>
        </p:nvSpPr>
        <p:spPr>
          <a:xfrm>
            <a:off x="1524000" y="1583094"/>
            <a:ext cx="10537371" cy="49949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170000"/>
              </a:lnSpc>
              <a:spcBef>
                <a:spcPts val="6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342C8B9-5272-7428-9BB0-6AC3CF3FB6AF}"/>
              </a:ext>
            </a:extLst>
          </p:cNvPr>
          <p:cNvSpPr txBox="1">
            <a:spLocks/>
          </p:cNvSpPr>
          <p:nvPr/>
        </p:nvSpPr>
        <p:spPr>
          <a:xfrm>
            <a:off x="1676400" y="581609"/>
            <a:ext cx="9716278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400" dirty="0" err="1"/>
              <a:t>অ্যালগরিদম</a:t>
            </a:r>
            <a:r>
              <a:rPr lang="en-US" sz="3400" dirty="0"/>
              <a:t> ও </a:t>
            </a:r>
            <a:r>
              <a:rPr lang="en-US" sz="3400" dirty="0" err="1"/>
              <a:t>ফ্লো</a:t>
            </a:r>
            <a:r>
              <a:rPr lang="en-US" sz="3400" dirty="0"/>
              <a:t> </a:t>
            </a:r>
            <a:r>
              <a:rPr lang="en-US" sz="3400" dirty="0" err="1"/>
              <a:t>চার্ট</a:t>
            </a:r>
            <a:r>
              <a:rPr lang="en-US" sz="3400" dirty="0"/>
              <a:t>(Algorithm and flow chart)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97A490-6257-6AE5-34FE-1A8A77C0C0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28"/>
          <a:stretch/>
        </p:blipFill>
        <p:spPr>
          <a:xfrm>
            <a:off x="1039731" y="1343608"/>
            <a:ext cx="6268325" cy="31545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05ECBD-2A1C-2CDB-2BE7-7126FB44BE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8970" y="1278294"/>
            <a:ext cx="3362794" cy="446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2503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57B53-595E-D05F-A6AC-D691559F2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FAE8AAF-0D2C-D4A7-14D9-4C8EE55497D0}"/>
              </a:ext>
            </a:extLst>
          </p:cNvPr>
          <p:cNvSpPr txBox="1">
            <a:spLocks/>
          </p:cNvSpPr>
          <p:nvPr/>
        </p:nvSpPr>
        <p:spPr>
          <a:xfrm>
            <a:off x="1524000" y="429209"/>
            <a:ext cx="4951445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400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4EC762B-4503-5EB8-5AC5-E64365599F76}"/>
              </a:ext>
            </a:extLst>
          </p:cNvPr>
          <p:cNvSpPr txBox="1">
            <a:spLocks/>
          </p:cNvSpPr>
          <p:nvPr/>
        </p:nvSpPr>
        <p:spPr>
          <a:xfrm>
            <a:off x="1524000" y="1583094"/>
            <a:ext cx="10537371" cy="49949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170000"/>
              </a:lnSpc>
              <a:spcBef>
                <a:spcPts val="6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721170B-C4C1-A9D4-1FB9-0B799CB4093C}"/>
              </a:ext>
            </a:extLst>
          </p:cNvPr>
          <p:cNvSpPr txBox="1">
            <a:spLocks/>
          </p:cNvSpPr>
          <p:nvPr/>
        </p:nvSpPr>
        <p:spPr>
          <a:xfrm>
            <a:off x="1676400" y="581609"/>
            <a:ext cx="9716278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400" dirty="0" err="1"/>
              <a:t>অ্যালগরিদম</a:t>
            </a:r>
            <a:r>
              <a:rPr lang="en-US" sz="3400" dirty="0"/>
              <a:t> ও </a:t>
            </a:r>
            <a:r>
              <a:rPr lang="en-US" sz="3400" dirty="0" err="1"/>
              <a:t>ফ্লো</a:t>
            </a:r>
            <a:r>
              <a:rPr lang="en-US" sz="3400" dirty="0"/>
              <a:t> </a:t>
            </a:r>
            <a:r>
              <a:rPr lang="en-US" sz="3400" dirty="0" err="1"/>
              <a:t>চার্ট</a:t>
            </a:r>
            <a:r>
              <a:rPr lang="en-US" sz="3400" dirty="0"/>
              <a:t>(Algorithm and flow chart)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D4E50A-081C-2FD8-CE4B-72F0CDCDB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321" y="1278294"/>
            <a:ext cx="5506218" cy="51632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0E8D81-DD48-0E04-93E2-8A617CC2F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7845" y="1278294"/>
            <a:ext cx="3899855" cy="5443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4648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AA362-E834-EA73-FBC9-4F30E05CD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CEC351C-8CF6-6B27-D169-F706EAF8E76C}"/>
              </a:ext>
            </a:extLst>
          </p:cNvPr>
          <p:cNvSpPr txBox="1">
            <a:spLocks/>
          </p:cNvSpPr>
          <p:nvPr/>
        </p:nvSpPr>
        <p:spPr>
          <a:xfrm>
            <a:off x="1524000" y="429209"/>
            <a:ext cx="4951445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400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FB11B4D-9B4B-FEA1-3191-DF4C97C14AA1}"/>
              </a:ext>
            </a:extLst>
          </p:cNvPr>
          <p:cNvSpPr txBox="1">
            <a:spLocks/>
          </p:cNvSpPr>
          <p:nvPr/>
        </p:nvSpPr>
        <p:spPr>
          <a:xfrm>
            <a:off x="1524000" y="1583094"/>
            <a:ext cx="10537371" cy="49949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170000"/>
              </a:lnSpc>
              <a:spcBef>
                <a:spcPts val="6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E65126-B7EB-6932-E018-53FD8A02ED22}"/>
              </a:ext>
            </a:extLst>
          </p:cNvPr>
          <p:cNvSpPr txBox="1">
            <a:spLocks/>
          </p:cNvSpPr>
          <p:nvPr/>
        </p:nvSpPr>
        <p:spPr>
          <a:xfrm>
            <a:off x="1676400" y="581609"/>
            <a:ext cx="9716278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400" dirty="0" err="1"/>
              <a:t>অ্যালগরিদম</a:t>
            </a:r>
            <a:r>
              <a:rPr lang="en-US" sz="3400" dirty="0"/>
              <a:t> ও </a:t>
            </a:r>
            <a:r>
              <a:rPr lang="en-US" sz="3400" dirty="0" err="1"/>
              <a:t>ফ্লো</a:t>
            </a:r>
            <a:r>
              <a:rPr lang="en-US" sz="3400" dirty="0"/>
              <a:t> </a:t>
            </a:r>
            <a:r>
              <a:rPr lang="en-US" sz="3400" dirty="0" err="1"/>
              <a:t>চার্ট</a:t>
            </a:r>
            <a:r>
              <a:rPr lang="en-US" sz="3400" dirty="0"/>
              <a:t>(Algorithm and flow chart)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BF3C72-4314-66A1-B3F8-6A2C9EDE9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636" y="1278294"/>
            <a:ext cx="7373379" cy="47822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CF2AEE-A42C-3384-0455-5D8332675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1066" y="1893629"/>
            <a:ext cx="1066949" cy="27721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E539AA3-ABEE-B982-0CF9-1D65E5949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1066" y="3368351"/>
            <a:ext cx="1066949" cy="277216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66C3C85-8EE1-02C1-A7B7-1CB157AECC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201"/>
          <a:stretch/>
        </p:blipFill>
        <p:spPr>
          <a:xfrm>
            <a:off x="864636" y="3279710"/>
            <a:ext cx="659364" cy="277216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8FC7947-8341-B547-F495-0647F046D12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8" t="-1048" r="78" b="1048"/>
          <a:stretch/>
        </p:blipFill>
        <p:spPr>
          <a:xfrm>
            <a:off x="8238015" y="1278294"/>
            <a:ext cx="3285697" cy="534034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19A8460-4EBC-633B-AC7D-76F910C824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201"/>
          <a:stretch/>
        </p:blipFill>
        <p:spPr>
          <a:xfrm>
            <a:off x="7704540" y="3345509"/>
            <a:ext cx="659364" cy="277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2576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2AFDC-AFC1-93C0-D0A0-DCBB9A245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EE03BCB-DCDA-FB5D-F2E8-3569E95A8AC9}"/>
              </a:ext>
            </a:extLst>
          </p:cNvPr>
          <p:cNvSpPr txBox="1">
            <a:spLocks/>
          </p:cNvSpPr>
          <p:nvPr/>
        </p:nvSpPr>
        <p:spPr>
          <a:xfrm>
            <a:off x="1524000" y="429209"/>
            <a:ext cx="4951445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400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FE20792-AE29-59F5-5160-51B41B4D8D6D}"/>
              </a:ext>
            </a:extLst>
          </p:cNvPr>
          <p:cNvSpPr txBox="1">
            <a:spLocks/>
          </p:cNvSpPr>
          <p:nvPr/>
        </p:nvSpPr>
        <p:spPr>
          <a:xfrm>
            <a:off x="1524000" y="1583094"/>
            <a:ext cx="10537371" cy="49949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170000"/>
              </a:lnSpc>
              <a:spcBef>
                <a:spcPts val="6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821716-1BC0-149B-A009-F0B1EA46FC31}"/>
              </a:ext>
            </a:extLst>
          </p:cNvPr>
          <p:cNvSpPr txBox="1">
            <a:spLocks/>
          </p:cNvSpPr>
          <p:nvPr/>
        </p:nvSpPr>
        <p:spPr>
          <a:xfrm>
            <a:off x="1676400" y="581609"/>
            <a:ext cx="9716278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400" dirty="0" err="1"/>
              <a:t>অ্যালগরিদম</a:t>
            </a:r>
            <a:r>
              <a:rPr lang="en-US" sz="3400" dirty="0"/>
              <a:t> ও </a:t>
            </a:r>
            <a:r>
              <a:rPr lang="en-US" sz="3400" dirty="0" err="1"/>
              <a:t>ফ্লো</a:t>
            </a:r>
            <a:r>
              <a:rPr lang="en-US" sz="3400" dirty="0"/>
              <a:t> </a:t>
            </a:r>
            <a:r>
              <a:rPr lang="en-US" sz="3400" dirty="0" err="1"/>
              <a:t>চার্ট</a:t>
            </a:r>
            <a:r>
              <a:rPr lang="en-US" sz="3400" dirty="0"/>
              <a:t>(Algorithm and flow chart)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D0F617-A404-AB36-B038-D9E75E3BD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181476"/>
            <a:ext cx="6448768" cy="53872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EFBC21-87DC-C50A-05A4-8A275FDB17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201"/>
          <a:stretch/>
        </p:blipFill>
        <p:spPr>
          <a:xfrm rot="5400000">
            <a:off x="6614384" y="748138"/>
            <a:ext cx="849087" cy="1715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541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F44F3-D659-7635-FEC8-513384D89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FE5BC7-7C43-93E7-D180-B2C74EE2FF92}"/>
              </a:ext>
            </a:extLst>
          </p:cNvPr>
          <p:cNvSpPr txBox="1">
            <a:spLocks/>
          </p:cNvSpPr>
          <p:nvPr/>
        </p:nvSpPr>
        <p:spPr>
          <a:xfrm>
            <a:off x="1524000" y="429209"/>
            <a:ext cx="4951445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400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EAC833A-A273-D798-83CA-00C6A136E3DB}"/>
              </a:ext>
            </a:extLst>
          </p:cNvPr>
          <p:cNvSpPr txBox="1">
            <a:spLocks/>
          </p:cNvSpPr>
          <p:nvPr/>
        </p:nvSpPr>
        <p:spPr>
          <a:xfrm>
            <a:off x="1524000" y="1583094"/>
            <a:ext cx="10537371" cy="49949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170000"/>
              </a:lnSpc>
              <a:spcBef>
                <a:spcPts val="6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767480D-0B4D-C164-3634-3A91D62A7729}"/>
              </a:ext>
            </a:extLst>
          </p:cNvPr>
          <p:cNvSpPr txBox="1">
            <a:spLocks/>
          </p:cNvSpPr>
          <p:nvPr/>
        </p:nvSpPr>
        <p:spPr>
          <a:xfrm>
            <a:off x="1676400" y="581609"/>
            <a:ext cx="9716278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400" dirty="0" err="1"/>
              <a:t>অ্যালগরিদম</a:t>
            </a:r>
            <a:r>
              <a:rPr lang="en-US" sz="3400" dirty="0"/>
              <a:t> ও </a:t>
            </a:r>
            <a:r>
              <a:rPr lang="en-US" sz="3400" dirty="0" err="1"/>
              <a:t>ফ্লো</a:t>
            </a:r>
            <a:r>
              <a:rPr lang="en-US" sz="3400" dirty="0"/>
              <a:t> </a:t>
            </a:r>
            <a:r>
              <a:rPr lang="en-US" sz="3400" dirty="0" err="1"/>
              <a:t>চার্ট</a:t>
            </a:r>
            <a:r>
              <a:rPr lang="en-US" sz="3400" dirty="0"/>
              <a:t>(Algorithm and flow chart)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E6EDE8-1289-929A-E630-E34BD12205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0" t="9175" r="35751" b="25436"/>
          <a:stretch/>
        </p:blipFill>
        <p:spPr>
          <a:xfrm>
            <a:off x="1036536" y="1430693"/>
            <a:ext cx="5321328" cy="41583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7D0C0F-FE96-A19D-9899-77CF1E167A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345" t="806" r="1300" b="-871"/>
          <a:stretch/>
        </p:blipFill>
        <p:spPr>
          <a:xfrm>
            <a:off x="7188289" y="1172547"/>
            <a:ext cx="3111101" cy="56792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B84716-DFAA-4645-29BB-52D20EA3C4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201"/>
          <a:stretch/>
        </p:blipFill>
        <p:spPr>
          <a:xfrm rot="5400000">
            <a:off x="7308524" y="1310458"/>
            <a:ext cx="849087" cy="10895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8B2AE7-DFA8-B469-2420-D18209C376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201"/>
          <a:stretch/>
        </p:blipFill>
        <p:spPr>
          <a:xfrm rot="5400000">
            <a:off x="4896237" y="3585288"/>
            <a:ext cx="2206689" cy="951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4541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07F1A-BB31-D439-7C7A-FF9296F21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7E5C845-CB07-CCC8-F6AA-AD89D1A4DFAF}"/>
              </a:ext>
            </a:extLst>
          </p:cNvPr>
          <p:cNvSpPr txBox="1">
            <a:spLocks/>
          </p:cNvSpPr>
          <p:nvPr/>
        </p:nvSpPr>
        <p:spPr>
          <a:xfrm>
            <a:off x="1524000" y="429209"/>
            <a:ext cx="4951445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400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F062DA8-2A14-55FB-5A0D-7A5C633CA943}"/>
              </a:ext>
            </a:extLst>
          </p:cNvPr>
          <p:cNvSpPr txBox="1">
            <a:spLocks/>
          </p:cNvSpPr>
          <p:nvPr/>
        </p:nvSpPr>
        <p:spPr>
          <a:xfrm>
            <a:off x="1524000" y="1583094"/>
            <a:ext cx="10537371" cy="49949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170000"/>
              </a:lnSpc>
              <a:spcBef>
                <a:spcPts val="6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4974EA0-7AE7-7174-DCBF-4A855C061A7D}"/>
              </a:ext>
            </a:extLst>
          </p:cNvPr>
          <p:cNvSpPr txBox="1">
            <a:spLocks/>
          </p:cNvSpPr>
          <p:nvPr/>
        </p:nvSpPr>
        <p:spPr>
          <a:xfrm>
            <a:off x="1676400" y="581609"/>
            <a:ext cx="9716278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400" dirty="0" err="1"/>
              <a:t>অ্যালগরিদম</a:t>
            </a:r>
            <a:r>
              <a:rPr lang="en-US" sz="3400" dirty="0"/>
              <a:t> ও </a:t>
            </a:r>
            <a:r>
              <a:rPr lang="en-US" sz="3400" dirty="0" err="1"/>
              <a:t>ফ্লো</a:t>
            </a:r>
            <a:r>
              <a:rPr lang="en-US" sz="3400" dirty="0"/>
              <a:t> </a:t>
            </a:r>
            <a:r>
              <a:rPr lang="en-US" sz="3400" dirty="0" err="1"/>
              <a:t>চার্ট</a:t>
            </a:r>
            <a:r>
              <a:rPr lang="en-US" sz="3400" dirty="0"/>
              <a:t>(Algorithm and flow chart)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763586-5B88-F8C1-D69B-CA3465E00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236" y="1430694"/>
            <a:ext cx="4717869" cy="3352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91E22E-49CE-D2B7-DB0D-3EF83F525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1105" y="1430694"/>
            <a:ext cx="3132936" cy="416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2127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29789-7969-B225-823A-88C8DEC3B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ED933FA-E830-9307-E8DB-1AA637F7042A}"/>
              </a:ext>
            </a:extLst>
          </p:cNvPr>
          <p:cNvSpPr txBox="1">
            <a:spLocks/>
          </p:cNvSpPr>
          <p:nvPr/>
        </p:nvSpPr>
        <p:spPr>
          <a:xfrm>
            <a:off x="1524000" y="429209"/>
            <a:ext cx="4951445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400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ABB7580-B004-6C17-972B-F161C25325FC}"/>
              </a:ext>
            </a:extLst>
          </p:cNvPr>
          <p:cNvSpPr txBox="1">
            <a:spLocks/>
          </p:cNvSpPr>
          <p:nvPr/>
        </p:nvSpPr>
        <p:spPr>
          <a:xfrm>
            <a:off x="1567542" y="1530220"/>
            <a:ext cx="10537371" cy="49949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170000"/>
              </a:lnSpc>
              <a:spcBef>
                <a:spcPts val="6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DF616F8-C730-D744-7A54-1EC4C3B3FEE7}"/>
              </a:ext>
            </a:extLst>
          </p:cNvPr>
          <p:cNvSpPr txBox="1">
            <a:spLocks/>
          </p:cNvSpPr>
          <p:nvPr/>
        </p:nvSpPr>
        <p:spPr>
          <a:xfrm>
            <a:off x="1676400" y="581609"/>
            <a:ext cx="9716278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400" dirty="0" err="1"/>
              <a:t>অ্যালগরিদম</a:t>
            </a:r>
            <a:r>
              <a:rPr lang="en-US" sz="3400" dirty="0"/>
              <a:t> ও </a:t>
            </a:r>
            <a:r>
              <a:rPr lang="en-US" sz="3400" dirty="0" err="1"/>
              <a:t>ফ্লো</a:t>
            </a:r>
            <a:r>
              <a:rPr lang="en-US" sz="3400" dirty="0"/>
              <a:t> </a:t>
            </a:r>
            <a:r>
              <a:rPr lang="en-US" sz="3400" dirty="0" err="1"/>
              <a:t>চার্ট</a:t>
            </a:r>
            <a:r>
              <a:rPr lang="en-US" sz="3400" dirty="0"/>
              <a:t>(Algorithm and flow chart)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278AC6-5EE6-3FDF-75DA-985531CC1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922" y="1430694"/>
            <a:ext cx="5663872" cy="24446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78E053-3034-95D6-A413-1F84FCD7D7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42"/>
          <a:stretch/>
        </p:blipFill>
        <p:spPr>
          <a:xfrm>
            <a:off x="7340272" y="1278294"/>
            <a:ext cx="3983512" cy="46202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1B9D826-1E77-FB23-E9B6-8645C3B3805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8201"/>
          <a:stretch/>
        </p:blipFill>
        <p:spPr>
          <a:xfrm rot="5400000">
            <a:off x="4921922" y="2478444"/>
            <a:ext cx="2107164" cy="68658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074FD1A-0628-2EBC-A688-E4ED330A838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8201"/>
          <a:stretch/>
        </p:blipFill>
        <p:spPr>
          <a:xfrm rot="5400000">
            <a:off x="6605097" y="1988586"/>
            <a:ext cx="2107164" cy="68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8567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EE4BB-6966-0F6D-7489-A46C31559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C8DA090-43DC-AB47-61C8-34FFB7C6F1DC}"/>
              </a:ext>
            </a:extLst>
          </p:cNvPr>
          <p:cNvSpPr txBox="1">
            <a:spLocks/>
          </p:cNvSpPr>
          <p:nvPr/>
        </p:nvSpPr>
        <p:spPr>
          <a:xfrm>
            <a:off x="1524000" y="429209"/>
            <a:ext cx="4951445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400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3E4FD5C-4ECC-5FAF-26E6-CAA6A83F177C}"/>
              </a:ext>
            </a:extLst>
          </p:cNvPr>
          <p:cNvSpPr txBox="1">
            <a:spLocks/>
          </p:cNvSpPr>
          <p:nvPr/>
        </p:nvSpPr>
        <p:spPr>
          <a:xfrm>
            <a:off x="1567542" y="1530220"/>
            <a:ext cx="10537371" cy="49949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170000"/>
              </a:lnSpc>
              <a:spcBef>
                <a:spcPts val="6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AC6059B-D86E-07E1-35A0-DBD3889C68E5}"/>
              </a:ext>
            </a:extLst>
          </p:cNvPr>
          <p:cNvSpPr txBox="1">
            <a:spLocks/>
          </p:cNvSpPr>
          <p:nvPr/>
        </p:nvSpPr>
        <p:spPr>
          <a:xfrm>
            <a:off x="1676400" y="581609"/>
            <a:ext cx="9716278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400" dirty="0" err="1"/>
              <a:t>অ্যালগরিদম</a:t>
            </a:r>
            <a:r>
              <a:rPr lang="en-US" sz="3400" dirty="0"/>
              <a:t> ও </a:t>
            </a:r>
            <a:r>
              <a:rPr lang="en-US" sz="3400" dirty="0" err="1"/>
              <a:t>ফ্লো</a:t>
            </a:r>
            <a:r>
              <a:rPr lang="en-US" sz="3400" dirty="0"/>
              <a:t> </a:t>
            </a:r>
            <a:r>
              <a:rPr lang="en-US" sz="3400" dirty="0" err="1"/>
              <a:t>চার্ট</a:t>
            </a:r>
            <a:r>
              <a:rPr lang="en-US" sz="3400" dirty="0"/>
              <a:t>(Algorithm and flow chart)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C9D4416-E16E-953E-E30B-7F57FC7DB3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201"/>
          <a:stretch/>
        </p:blipFill>
        <p:spPr>
          <a:xfrm rot="5400000">
            <a:off x="4921922" y="2478444"/>
            <a:ext cx="2107164" cy="6865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6AE5899-D846-E37C-3389-5F03170D8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423" y="1278294"/>
            <a:ext cx="3743847" cy="35342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A4515C7-634C-394C-B925-B3709AD641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8795" y="1250789"/>
            <a:ext cx="3429479" cy="555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3183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8714E-FB9D-64B5-F4E8-ADCDB5A46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1D33009-ECAD-EAFD-E1C2-FA8046E7499C}"/>
              </a:ext>
            </a:extLst>
          </p:cNvPr>
          <p:cNvSpPr txBox="1">
            <a:spLocks/>
          </p:cNvSpPr>
          <p:nvPr/>
        </p:nvSpPr>
        <p:spPr>
          <a:xfrm>
            <a:off x="1524000" y="429209"/>
            <a:ext cx="4951445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400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D7C59FD-88AE-579E-3932-1609B8CB16B6}"/>
              </a:ext>
            </a:extLst>
          </p:cNvPr>
          <p:cNvSpPr txBox="1">
            <a:spLocks/>
          </p:cNvSpPr>
          <p:nvPr/>
        </p:nvSpPr>
        <p:spPr>
          <a:xfrm>
            <a:off x="1567542" y="1530220"/>
            <a:ext cx="10537371" cy="49949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170000"/>
              </a:lnSpc>
              <a:spcBef>
                <a:spcPts val="6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25FDC4A-57F9-B9E5-A5C7-BF34F1B5E6CF}"/>
              </a:ext>
            </a:extLst>
          </p:cNvPr>
          <p:cNvSpPr txBox="1">
            <a:spLocks/>
          </p:cNvSpPr>
          <p:nvPr/>
        </p:nvSpPr>
        <p:spPr>
          <a:xfrm>
            <a:off x="1676400" y="581609"/>
            <a:ext cx="9716278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400" dirty="0" err="1"/>
              <a:t>অ্যালগরিদম</a:t>
            </a:r>
            <a:r>
              <a:rPr lang="en-US" sz="3400" dirty="0"/>
              <a:t> ও </a:t>
            </a:r>
            <a:r>
              <a:rPr lang="en-US" sz="3400" dirty="0" err="1"/>
              <a:t>ফ্লো</a:t>
            </a:r>
            <a:r>
              <a:rPr lang="en-US" sz="3400" dirty="0"/>
              <a:t> </a:t>
            </a:r>
            <a:r>
              <a:rPr lang="en-US" sz="3400" dirty="0" err="1"/>
              <a:t>চার্ট</a:t>
            </a:r>
            <a:r>
              <a:rPr lang="en-US" sz="3400" dirty="0"/>
              <a:t>(Algorithm and flow chart)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FB0E44-83DF-A25B-8D41-6008EB3A83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201"/>
          <a:stretch/>
        </p:blipFill>
        <p:spPr>
          <a:xfrm rot="5400000">
            <a:off x="4921922" y="2478444"/>
            <a:ext cx="2107164" cy="68658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46199D8-D050-24D1-052C-47FBF2469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694" y="1278293"/>
            <a:ext cx="4177904" cy="30977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9B46E32-62D2-4193-BC9C-35D8A6B49B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2213" y="1314329"/>
            <a:ext cx="2854806" cy="4229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2396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D69F7-5440-BD75-83EC-4B05AAE65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65DD5C4-A470-ABF6-5498-C113F2411C32}"/>
              </a:ext>
            </a:extLst>
          </p:cNvPr>
          <p:cNvSpPr txBox="1">
            <a:spLocks/>
          </p:cNvSpPr>
          <p:nvPr/>
        </p:nvSpPr>
        <p:spPr>
          <a:xfrm>
            <a:off x="1524000" y="429209"/>
            <a:ext cx="4951445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400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525C393-2827-D504-4B65-A35D4652A1A2}"/>
              </a:ext>
            </a:extLst>
          </p:cNvPr>
          <p:cNvSpPr txBox="1">
            <a:spLocks/>
          </p:cNvSpPr>
          <p:nvPr/>
        </p:nvSpPr>
        <p:spPr>
          <a:xfrm>
            <a:off x="1567542" y="1530220"/>
            <a:ext cx="10537371" cy="49949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170000"/>
              </a:lnSpc>
              <a:spcBef>
                <a:spcPts val="6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643CE8C-B49C-557B-67BA-A0A4C83C2285}"/>
              </a:ext>
            </a:extLst>
          </p:cNvPr>
          <p:cNvSpPr txBox="1">
            <a:spLocks/>
          </p:cNvSpPr>
          <p:nvPr/>
        </p:nvSpPr>
        <p:spPr>
          <a:xfrm>
            <a:off x="1676400" y="581609"/>
            <a:ext cx="9716278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400" dirty="0" err="1"/>
              <a:t>অ্যালগরিদম</a:t>
            </a:r>
            <a:r>
              <a:rPr lang="en-US" sz="3400" dirty="0"/>
              <a:t> ও </a:t>
            </a:r>
            <a:r>
              <a:rPr lang="en-US" sz="3400" dirty="0" err="1"/>
              <a:t>ফ্লো</a:t>
            </a:r>
            <a:r>
              <a:rPr lang="en-US" sz="3400" dirty="0"/>
              <a:t> </a:t>
            </a:r>
            <a:r>
              <a:rPr lang="en-US" sz="3400" dirty="0" err="1"/>
              <a:t>চার্ট</a:t>
            </a:r>
            <a:r>
              <a:rPr lang="en-US" sz="3400" dirty="0"/>
              <a:t>(Algorithm and flow chart)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102833E-CE98-7DFF-EE10-16E6436E19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201"/>
          <a:stretch/>
        </p:blipFill>
        <p:spPr>
          <a:xfrm rot="5400000">
            <a:off x="4921922" y="2478444"/>
            <a:ext cx="2107164" cy="68658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9A1B6EB-82CE-4B55-E912-044FFD5D8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515" y="1377819"/>
            <a:ext cx="5233103" cy="29889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6815DE1-8316-A71E-3DC3-BA4E654607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2728" y="1430694"/>
            <a:ext cx="2616546" cy="4811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3876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90EE7-0510-E3F1-A1A7-4E6FE5121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AB19EC6-2465-9857-7DFA-B48790E5E622}"/>
              </a:ext>
            </a:extLst>
          </p:cNvPr>
          <p:cNvSpPr txBox="1">
            <a:spLocks/>
          </p:cNvSpPr>
          <p:nvPr/>
        </p:nvSpPr>
        <p:spPr>
          <a:xfrm>
            <a:off x="1524000" y="429209"/>
            <a:ext cx="4951445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400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0171B72-B213-259E-EC9A-53B2BFF1B11A}"/>
              </a:ext>
            </a:extLst>
          </p:cNvPr>
          <p:cNvSpPr txBox="1">
            <a:spLocks/>
          </p:cNvSpPr>
          <p:nvPr/>
        </p:nvSpPr>
        <p:spPr>
          <a:xfrm>
            <a:off x="1567542" y="1530220"/>
            <a:ext cx="10537371" cy="49949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170000"/>
              </a:lnSpc>
              <a:spcBef>
                <a:spcPts val="6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33506FA-94EE-2FBE-DFC0-BAC48C474CA6}"/>
              </a:ext>
            </a:extLst>
          </p:cNvPr>
          <p:cNvSpPr txBox="1">
            <a:spLocks/>
          </p:cNvSpPr>
          <p:nvPr/>
        </p:nvSpPr>
        <p:spPr>
          <a:xfrm>
            <a:off x="1676400" y="581609"/>
            <a:ext cx="9716278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400" dirty="0" err="1"/>
              <a:t>অ্যালগরিদম</a:t>
            </a:r>
            <a:r>
              <a:rPr lang="en-US" sz="3400" dirty="0"/>
              <a:t> ও </a:t>
            </a:r>
            <a:r>
              <a:rPr lang="en-US" sz="3400" dirty="0" err="1"/>
              <a:t>ফ্লো</a:t>
            </a:r>
            <a:r>
              <a:rPr lang="en-US" sz="3400" dirty="0"/>
              <a:t> </a:t>
            </a:r>
            <a:r>
              <a:rPr lang="en-US" sz="3400" dirty="0" err="1"/>
              <a:t>চার্ট</a:t>
            </a:r>
            <a:r>
              <a:rPr lang="en-US" sz="3400" dirty="0"/>
              <a:t>(Algorithm and flow chart)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E1D561B-9584-4185-1DFF-37335F1A99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201"/>
          <a:stretch/>
        </p:blipFill>
        <p:spPr>
          <a:xfrm rot="5400000">
            <a:off x="4921922" y="2478444"/>
            <a:ext cx="2107164" cy="6865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8923FF8-DD13-0A16-F220-A7677461A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1671" y="1836347"/>
            <a:ext cx="8902002" cy="22816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6AA0D0-914A-B59D-D8C2-23971DBF6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7633" y="1836347"/>
            <a:ext cx="1401262" cy="604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6028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AC301-2D74-D9E7-DF3B-8359FB540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Series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F5F455-7B6D-FBFC-3218-4900CF2971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+…+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13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21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+…+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কোনো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সংখ্যা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মৌলিক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সংখ্যা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কিনা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যাচাই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করো।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এর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উৎপাদকসমূহ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বের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করো।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F5F455-7B6D-FBFC-3218-4900CF2971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9" t="-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15951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84F8-6BD2-E710-9AB1-E0E68ABA1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1585163"/>
            <a:ext cx="5795295" cy="1280890"/>
          </a:xfrm>
        </p:spPr>
        <p:txBody>
          <a:bodyPr>
            <a:normAutofit/>
          </a:bodyPr>
          <a:lstStyle/>
          <a:p>
            <a:r>
              <a:rPr lang="en-US" sz="1800" dirty="0"/>
              <a:t>১. </a:t>
            </a:r>
            <a:r>
              <a:rPr lang="en-US" sz="1800" dirty="0" err="1"/>
              <a:t>তথ্য</a:t>
            </a:r>
            <a:r>
              <a:rPr lang="en-US" sz="1800" dirty="0"/>
              <a:t> ও </a:t>
            </a:r>
            <a:r>
              <a:rPr lang="en-US" sz="1800" dirty="0" err="1"/>
              <a:t>যোগাযোগ</a:t>
            </a:r>
            <a:r>
              <a:rPr lang="en-US" sz="1800" dirty="0"/>
              <a:t> </a:t>
            </a:r>
            <a:r>
              <a:rPr lang="en-US" sz="1800" dirty="0" err="1"/>
              <a:t>প্রযুক্তি</a:t>
            </a:r>
            <a:r>
              <a:rPr lang="en-US" sz="1800" dirty="0"/>
              <a:t> (</a:t>
            </a:r>
            <a:r>
              <a:rPr lang="en-US" sz="1800" dirty="0" err="1"/>
              <a:t>অক্ষরপত্র</a:t>
            </a:r>
            <a:r>
              <a:rPr lang="en-US" sz="1800" dirty="0"/>
              <a:t> </a:t>
            </a:r>
            <a:r>
              <a:rPr lang="en-US" sz="1800" dirty="0" err="1"/>
              <a:t>প্রকাশনী</a:t>
            </a:r>
            <a:r>
              <a:rPr lang="en-US" sz="1800" dirty="0"/>
              <a:t>)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7C5DA64-DC48-092E-0AD1-F20110CBF8EA}"/>
              </a:ext>
            </a:extLst>
          </p:cNvPr>
          <p:cNvSpPr txBox="1">
            <a:spLocks/>
          </p:cNvSpPr>
          <p:nvPr/>
        </p:nvSpPr>
        <p:spPr>
          <a:xfrm>
            <a:off x="1676400" y="581609"/>
            <a:ext cx="6637176" cy="849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>
                <a:cs typeface="Times New Roman" panose="02020603050405020304" pitchFamily="18" charset="0"/>
              </a:rPr>
              <a:t>References</a:t>
            </a:r>
            <a:endParaRPr lang="en-US" sz="32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48376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EB18A-FF4D-520A-C193-88BDB4A66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7504B-631E-9614-BF46-8B07E86FD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0043" y="2415588"/>
            <a:ext cx="5795295" cy="1280890"/>
          </a:xfrm>
        </p:spPr>
        <p:txBody>
          <a:bodyPr>
            <a:normAutofit fontScale="90000"/>
          </a:bodyPr>
          <a:lstStyle/>
          <a:p>
            <a:r>
              <a:rPr lang="en-US" sz="8000" b="1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6438549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203</TotalTime>
  <Words>509</Words>
  <Application>Microsoft Office PowerPoint</Application>
  <PresentationFormat>Widescreen</PresentationFormat>
  <Paragraphs>71</Paragraphs>
  <Slides>36</Slides>
  <Notes>0</Notes>
  <HiddenSlides>8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Arial</vt:lpstr>
      <vt:lpstr>Arial Black</vt:lpstr>
      <vt:lpstr>Cambria Math</vt:lpstr>
      <vt:lpstr>Century Gothic</vt:lpstr>
      <vt:lpstr>Times New Roman</vt:lpstr>
      <vt:lpstr>Wingdings 3</vt:lpstr>
      <vt:lpstr>Wisp</vt:lpstr>
      <vt:lpstr>প্রোগ্রামিং ভাষা</vt:lpstr>
      <vt:lpstr>পাঠ পরিকল্পনা</vt:lpstr>
      <vt:lpstr>প্রোগ্রামের ভাষা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Additional Series</vt:lpstr>
      <vt:lpstr>১. তথ্য ও যোগাযোগ প্রযুক্তি (অক্ষরপত্র প্রকাশনী)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Doniel Tripura</dc:creator>
  <cp:lastModifiedBy>Doniel Tripura</cp:lastModifiedBy>
  <cp:revision>16</cp:revision>
  <dcterms:created xsi:type="dcterms:W3CDTF">2024-10-09T09:01:03Z</dcterms:created>
  <dcterms:modified xsi:type="dcterms:W3CDTF">2024-10-09T12:25:31Z</dcterms:modified>
</cp:coreProperties>
</file>