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notesMasterIdLst>
    <p:notesMasterId r:id="rId23"/>
  </p:notesMasterIdLst>
  <p:sldIdLst>
    <p:sldId id="256" r:id="rId2"/>
    <p:sldId id="257" r:id="rId3"/>
    <p:sldId id="258" r:id="rId4"/>
    <p:sldId id="260" r:id="rId5"/>
    <p:sldId id="261" r:id="rId6"/>
    <p:sldId id="266" r:id="rId7"/>
    <p:sldId id="267" r:id="rId8"/>
    <p:sldId id="259" r:id="rId9"/>
    <p:sldId id="264" r:id="rId10"/>
    <p:sldId id="263" r:id="rId11"/>
    <p:sldId id="262" r:id="rId12"/>
    <p:sldId id="265" r:id="rId13"/>
    <p:sldId id="272" r:id="rId14"/>
    <p:sldId id="271" r:id="rId15"/>
    <p:sldId id="268" r:id="rId16"/>
    <p:sldId id="269" r:id="rId17"/>
    <p:sldId id="274" r:id="rId18"/>
    <p:sldId id="273" r:id="rId19"/>
    <p:sldId id="275" r:id="rId20"/>
    <p:sldId id="276" r:id="rId21"/>
    <p:sldId id="27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2" autoAdjust="0"/>
    <p:restoredTop sz="95838" autoAdjust="0"/>
  </p:normalViewPr>
  <p:slideViewPr>
    <p:cSldViewPr snapToGrid="0">
      <p:cViewPr varScale="1">
        <p:scale>
          <a:sx n="105" d="100"/>
          <a:sy n="105" d="100"/>
        </p:scale>
        <p:origin x="8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6:19:56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6:22:38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6:22:40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6:26:55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6:57:13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7:00:51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7:00:52.8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6:59:02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6:59:03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7:19:50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24575,'0'8'0,"0"8"0,4 1 0,6-2 0,5 0 0,5 2 0,3-2 0,2-3 0,1-4 0,1-4 0,-5-1-8191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7:26:31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51 147 24575,'0'-4'0,"0"-6"0,-4-6 0,-2-4 0,0-3 0,-2-2 0,-5-1 0,0 4-8191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7:26:39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7:31:59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8T17:32:02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DF596-2E83-4A97-A3DA-277E0088AF13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3AD42-8BC1-417F-BB87-8E3407B2CA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16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A5C94-ADDD-4629-8B3D-C7E1F0A975E7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91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7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A54-D1E9-4A72-9BCE-1ED96F746FF2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97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02BF-C12B-4167-A8C8-DC5F9D3BD356}" type="datetime1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9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88DC7-B30E-46DF-9D56-0DE70B9AC6A9}" type="datetime1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53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D5F47-DB8E-4288-9707-5927E9D250F8}" type="datetime1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AAF3E-DC50-4DCE-8F36-F182EDEFD5E9}" type="datetime1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70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E9367-05D2-4A8C-AF15-DCCFF4AF3D5B}" type="datetime1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1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228AB-A590-43AB-8F55-1042F0110A23}" type="datetime1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49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72EF-3606-46C7-8AA9-FA8AF64F2665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75757"/>
      </p:ext>
    </p:extLst>
  </p:cSld>
  <p:clrMapOvr>
    <a:masterClrMapping/>
  </p:clrMapOvr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72EF-3606-46C7-8AA9-FA8AF64F2665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3190149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72EF-3606-46C7-8AA9-FA8AF64F2665}" type="datetime1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47628"/>
      </p:ext>
    </p:extLst>
  </p:cSld>
  <p:clrMapOvr>
    <a:masterClrMapping/>
  </p:clrMapOvr>
  <p:hf sldNum="0"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72EF-3606-46C7-8AA9-FA8AF64F2665}" type="datetime1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727014"/>
      </p:ext>
    </p:extLst>
  </p:cSld>
  <p:clrMapOvr>
    <a:masterClrMapping/>
  </p:clrMapOvr>
  <p:hf sldNum="0"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772EF-3606-46C7-8AA9-FA8AF64F2665}" type="datetime1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10936"/>
      </p:ext>
    </p:extLst>
  </p:cSld>
  <p:clrMapOvr>
    <a:masterClrMapping/>
  </p:clrMapOvr>
  <p:hf sldNum="0"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C62B2-5EF5-4E24-9265-CF7D1F7178D8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56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2D5B3-F506-4DF9-A0E2-3EC519CE2A1E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74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772EF-3606-46C7-8AA9-FA8AF64F2665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 Doniel Tripura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8B4A333-A921-454C-94B0-96807B0A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9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</p:sldLayoutIdLst>
  <p:hf sldNum="0"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710.png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Relationship Id="rId4" Type="http://schemas.openxmlformats.org/officeDocument/2006/relationships/image" Target="../media/image23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7.png"/><Relationship Id="rId7" Type="http://schemas.openxmlformats.org/officeDocument/2006/relationships/customXml" Target="../ink/ink6.xml"/><Relationship Id="rId12" Type="http://schemas.openxmlformats.org/officeDocument/2006/relationships/customXml" Target="../ink/ink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customXml" Target="../ink/ink8.xml"/><Relationship Id="rId5" Type="http://schemas.openxmlformats.org/officeDocument/2006/relationships/image" Target="../media/image29.png"/><Relationship Id="rId10" Type="http://schemas.openxmlformats.org/officeDocument/2006/relationships/image" Target="../media/image26.png"/><Relationship Id="rId4" Type="http://schemas.openxmlformats.org/officeDocument/2006/relationships/image" Target="../media/image28.png"/><Relationship Id="rId9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customXml" Target="../ink/ink10.xml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0.png"/><Relationship Id="rId7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6.png"/><Relationship Id="rId18" Type="http://schemas.openxmlformats.org/officeDocument/2006/relationships/customXml" Target="../ink/ink14.xml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customXml" Target="../ink/ink11.xml"/><Relationship Id="rId17" Type="http://schemas.openxmlformats.org/officeDocument/2006/relationships/image" Target="../media/image77.png"/><Relationship Id="rId2" Type="http://schemas.openxmlformats.org/officeDocument/2006/relationships/image" Target="../media/image3.png"/><Relationship Id="rId16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customXml" Target="../ink/ink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0.png"/><Relationship Id="rId7" Type="http://schemas.openxmlformats.org/officeDocument/2006/relationships/image" Target="../media/image8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3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76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473E779-C1A7-C1FA-6942-34709BDD1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4690" y="357067"/>
            <a:ext cx="4084981" cy="980136"/>
          </a:xfrm>
        </p:spPr>
        <p:txBody>
          <a:bodyPr>
            <a:normAutofit/>
          </a:bodyPr>
          <a:lstStyle/>
          <a:p>
            <a:r>
              <a:rPr lang="en-US" b="1" dirty="0" err="1"/>
              <a:t>বৃত্ত</a:t>
            </a:r>
            <a:r>
              <a:rPr lang="en-US" b="1" dirty="0"/>
              <a:t> (Circle)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8ED46-0A39-CCFA-B35F-B0183ADB4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3DEE7-3186-4142-A281-AD9BB838A317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191D3-7B50-DFA4-95F4-F2585A9F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89310A-3199-9966-F50A-BCC10E598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338" y="1408922"/>
            <a:ext cx="3878333" cy="449841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324A7126-24F2-F2A7-3981-18951E7E2DD9}"/>
              </a:ext>
            </a:extLst>
          </p:cNvPr>
          <p:cNvSpPr txBox="1">
            <a:spLocks/>
          </p:cNvSpPr>
          <p:nvPr/>
        </p:nvSpPr>
        <p:spPr>
          <a:xfrm>
            <a:off x="2890934" y="5773504"/>
            <a:ext cx="6410131" cy="453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s-IN" dirty="0"/>
              <a:t>অনলাইন বিশেষ কোচিং (বিজ্ঞান বিভাগ)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856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3B8DF-B12D-091E-0E2C-D96D97B1B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</a:t>
            </a:r>
            <a:r>
              <a:rPr lang="en-US" dirty="0"/>
              <a:t> </a:t>
            </a:r>
            <a:r>
              <a:rPr lang="en-US" dirty="0" err="1"/>
              <a:t>পরিচিতি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BB2FCC-AA92-5612-8585-3334B2E33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0" r="20040"/>
          <a:stretch/>
        </p:blipFill>
        <p:spPr>
          <a:xfrm>
            <a:off x="5916820" y="2483717"/>
            <a:ext cx="4444792" cy="401711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D5E3-CB11-662D-13E7-93EFB7B7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BE9A-571B-414A-BA9E-D454B7A03739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F9AF9-0C72-B59B-E040-8B1AC36C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145D55-6F08-CFDE-D78A-D041F5A5CC3B}"/>
              </a:ext>
            </a:extLst>
          </p:cNvPr>
          <p:cNvSpPr txBox="1"/>
          <p:nvPr/>
        </p:nvSpPr>
        <p:spPr>
          <a:xfrm>
            <a:off x="1428750" y="3709223"/>
            <a:ext cx="4035117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If Radius = </a:t>
            </a:r>
            <a:r>
              <a:rPr lang="en-US" sz="2000" b="1" dirty="0" err="1"/>
              <a:t>ব্যাসার্ধ</a:t>
            </a:r>
            <a:r>
              <a:rPr lang="en-US" sz="2000" b="1" dirty="0"/>
              <a:t> = r</a:t>
            </a:r>
          </a:p>
          <a:p>
            <a:endParaRPr lang="en-US" sz="2000" b="1" dirty="0"/>
          </a:p>
          <a:p>
            <a:r>
              <a:rPr lang="en-US" sz="2000" b="1" dirty="0"/>
              <a:t>Area = </a:t>
            </a:r>
            <a:r>
              <a:rPr lang="en-US" sz="2000" b="1" dirty="0" err="1"/>
              <a:t>ক্ষেত্রফল</a:t>
            </a:r>
            <a:r>
              <a:rPr lang="en-US" sz="2000" b="1" dirty="0"/>
              <a:t>  = π r</a:t>
            </a:r>
            <a:r>
              <a:rPr lang="en-US" sz="2000" b="1" baseline="30000" dirty="0"/>
              <a:t>2</a:t>
            </a:r>
          </a:p>
          <a:p>
            <a:endParaRPr lang="en-US" sz="2000" b="1" baseline="30000" dirty="0"/>
          </a:p>
          <a:p>
            <a:r>
              <a:rPr lang="en-US" sz="2000" b="1" dirty="0"/>
              <a:t>Circumference = </a:t>
            </a:r>
            <a:r>
              <a:rPr lang="en-US" sz="2000" b="1" dirty="0" err="1"/>
              <a:t>পরিধি</a:t>
            </a:r>
            <a:r>
              <a:rPr lang="en-US" sz="2000" b="1" dirty="0"/>
              <a:t> </a:t>
            </a:r>
            <a:r>
              <a:rPr lang="en-US" sz="2000" b="1" baseline="30000" dirty="0"/>
              <a:t>= </a:t>
            </a:r>
            <a:r>
              <a:rPr lang="el-GR" sz="2000" b="1" dirty="0"/>
              <a:t>2 π </a:t>
            </a:r>
            <a:r>
              <a:rPr lang="en-US" sz="2000" b="1" dirty="0"/>
              <a:t>r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64E65-7AEB-5E0E-1D7B-BBA6F6BFD0CE}"/>
              </a:ext>
            </a:extLst>
          </p:cNvPr>
          <p:cNvSpPr txBox="1"/>
          <p:nvPr/>
        </p:nvSpPr>
        <p:spPr>
          <a:xfrm>
            <a:off x="1291241" y="1427946"/>
            <a:ext cx="96095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s-IN" sz="2800" dirty="0"/>
              <a:t>বৃত্ত</a:t>
            </a:r>
            <a:r>
              <a:rPr lang="en-US" sz="2800" dirty="0"/>
              <a:t>: </a:t>
            </a:r>
            <a:r>
              <a:rPr lang="as-IN" sz="2800" dirty="0"/>
              <a:t>একটি নির্দিষ্ট বিন্দুকে কেন্দ্র করে সমান দূরত্ব বজায় যে বক্ররেখা একবার ঘুরে ঐ বিন্দুতে আসে তাকে বৃত্ত বলে।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36720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D4082-710E-4D0A-61B7-8CFB0B21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সমীকরণ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6B9877-0092-A657-508D-0CC3A77D8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84" y="2364550"/>
            <a:ext cx="3317938" cy="33179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75764-9DE7-6E93-5431-FB9A8C66C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E2ED-E842-4FA6-9EFD-8A7507CA6412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40F7E-B1C2-7A79-618A-0EED76B89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7F408E-5D88-633F-088B-79B83BF6DCD9}"/>
              </a:ext>
            </a:extLst>
          </p:cNvPr>
          <p:cNvCxnSpPr>
            <a:cxnSpLocks/>
            <a:stCxn id="7" idx="1"/>
            <a:endCxn id="7" idx="3"/>
          </p:cNvCxnSpPr>
          <p:nvPr/>
        </p:nvCxnSpPr>
        <p:spPr>
          <a:xfrm>
            <a:off x="938784" y="4023519"/>
            <a:ext cx="3317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78860A-505D-296F-BC85-8A82AFB5ED27}"/>
              </a:ext>
            </a:extLst>
          </p:cNvPr>
          <p:cNvCxnSpPr>
            <a:cxnSpLocks/>
            <a:stCxn id="7" idx="2"/>
            <a:endCxn id="7" idx="0"/>
          </p:cNvCxnSpPr>
          <p:nvPr/>
        </p:nvCxnSpPr>
        <p:spPr>
          <a:xfrm flipV="1">
            <a:off x="2597753" y="2364550"/>
            <a:ext cx="0" cy="3317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6FB8552-352B-C816-1B60-239950761FE6}"/>
              </a:ext>
            </a:extLst>
          </p:cNvPr>
          <p:cNvSpPr txBox="1"/>
          <p:nvPr/>
        </p:nvSpPr>
        <p:spPr>
          <a:xfrm>
            <a:off x="1935479" y="4053506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C(0,0)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FBCF38-CE67-AE24-C62F-3E9A34568EF2}"/>
              </a:ext>
            </a:extLst>
          </p:cNvPr>
          <p:cNvSpPr txBox="1"/>
          <p:nvPr/>
        </p:nvSpPr>
        <p:spPr>
          <a:xfrm>
            <a:off x="3806951" y="404677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D4F38D-957F-5BFE-4A25-16AB74507166}"/>
              </a:ext>
            </a:extLst>
          </p:cNvPr>
          <p:cNvSpPr txBox="1"/>
          <p:nvPr/>
        </p:nvSpPr>
        <p:spPr>
          <a:xfrm>
            <a:off x="938784" y="1760491"/>
            <a:ext cx="3823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কেন্দ্র</a:t>
            </a:r>
            <a:r>
              <a:rPr lang="en-US" sz="2400" dirty="0"/>
              <a:t> (0,0) </a:t>
            </a:r>
            <a:r>
              <a:rPr lang="en-US" sz="2400" dirty="0" err="1"/>
              <a:t>দেওয়া</a:t>
            </a:r>
            <a:r>
              <a:rPr lang="en-US" sz="2400" dirty="0"/>
              <a:t> </a:t>
            </a:r>
            <a:r>
              <a:rPr lang="en-US" sz="2400" dirty="0" err="1"/>
              <a:t>থাকলে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F21CDF-5213-A776-9205-0B29C6B5A88E}"/>
                  </a:ext>
                </a:extLst>
              </p:cNvPr>
              <p:cNvSpPr txBox="1"/>
              <p:nvPr/>
            </p:nvSpPr>
            <p:spPr>
              <a:xfrm>
                <a:off x="6766558" y="2218405"/>
                <a:ext cx="4106850" cy="2755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বৃত্তের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সমীকরণ</a:t>
                </a:r>
                <a:r>
                  <a:rPr lang="en-US" sz="2400" dirty="0"/>
                  <a:t>,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FF21CDF-5213-A776-9205-0B29C6B5A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58" y="2218405"/>
                <a:ext cx="4106850" cy="2755563"/>
              </a:xfrm>
              <a:prstGeom prst="rect">
                <a:avLst/>
              </a:prstGeom>
              <a:blipFill>
                <a:blip r:embed="rId3"/>
                <a:stretch>
                  <a:fillRect l="-2226" t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E57FC4F-3973-1954-E314-C83C7A524289}"/>
                  </a:ext>
                </a:extLst>
              </p:cNvPr>
              <p:cNvSpPr txBox="1"/>
              <p:nvPr/>
            </p:nvSpPr>
            <p:spPr>
              <a:xfrm>
                <a:off x="7133666" y="4194313"/>
                <a:ext cx="20103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E57FC4F-3973-1954-E314-C83C7A524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3666" y="4194313"/>
                <a:ext cx="2010334" cy="461665"/>
              </a:xfrm>
              <a:prstGeom prst="rect">
                <a:avLst/>
              </a:prstGeom>
              <a:blipFill>
                <a:blip r:embed="rId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959513-FDA3-03D0-5B79-B13BE2DDFA2A}"/>
                  </a:ext>
                </a:extLst>
              </p:cNvPr>
              <p:cNvSpPr txBox="1"/>
              <p:nvPr/>
            </p:nvSpPr>
            <p:spPr>
              <a:xfrm>
                <a:off x="2939181" y="3682389"/>
                <a:ext cx="212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9959513-FDA3-03D0-5B79-B13BE2DDF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181" y="3682389"/>
                <a:ext cx="212789" cy="369332"/>
              </a:xfrm>
              <a:prstGeom prst="rect">
                <a:avLst/>
              </a:prstGeom>
              <a:blipFill>
                <a:blip r:embed="rId5"/>
                <a:stretch>
                  <a:fillRect r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453C5D1E-2186-CA6F-623F-A486D6CD2BD5}"/>
              </a:ext>
            </a:extLst>
          </p:cNvPr>
          <p:cNvSpPr/>
          <p:nvPr/>
        </p:nvSpPr>
        <p:spPr>
          <a:xfrm>
            <a:off x="2574893" y="400778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93B6859-DE46-BC4C-9AD9-48648F3FFF7C}"/>
                  </a:ext>
                </a:extLst>
              </p14:cNvPr>
              <p14:cNvContentPartPr/>
              <p14:nvPr/>
            </p14:nvContentPartPr>
            <p14:xfrm>
              <a:off x="3776256" y="4069152"/>
              <a:ext cx="360" cy="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93B6859-DE46-BC4C-9AD9-48648F3FFF7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67256" y="406015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898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5F679-4AF9-29D4-0810-678982A2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04C4-93B2-755C-26B3-BBAA1909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সমীকরণ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38E2C0-2A9B-FA0F-DABF-563BB810B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84" y="2364550"/>
            <a:ext cx="3317938" cy="33179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C88C4-09B7-F187-03E8-24D5911E5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E2ED-E842-4FA6-9EFD-8A7507CA6412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2FD1B-C057-347D-2190-5DD585404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009D625-D3FD-5DFB-DF40-93FC0E5E4111}"/>
              </a:ext>
            </a:extLst>
          </p:cNvPr>
          <p:cNvCxnSpPr>
            <a:cxnSpLocks/>
          </p:cNvCxnSpPr>
          <p:nvPr/>
        </p:nvCxnSpPr>
        <p:spPr>
          <a:xfrm>
            <a:off x="1034129" y="5545646"/>
            <a:ext cx="3317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1B45DF-D6B9-9872-FF87-82C324BA4D47}"/>
              </a:ext>
            </a:extLst>
          </p:cNvPr>
          <p:cNvCxnSpPr>
            <a:cxnSpLocks/>
          </p:cNvCxnSpPr>
          <p:nvPr/>
        </p:nvCxnSpPr>
        <p:spPr>
          <a:xfrm flipV="1">
            <a:off x="1034129" y="2218405"/>
            <a:ext cx="0" cy="3317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F456118-D0CA-DD89-817F-123AD07319C0}"/>
              </a:ext>
            </a:extLst>
          </p:cNvPr>
          <p:cNvSpPr txBox="1"/>
          <p:nvPr/>
        </p:nvSpPr>
        <p:spPr>
          <a:xfrm>
            <a:off x="2017589" y="3677438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</a:t>
            </a:r>
            <a:r>
              <a:rPr lang="en-US" dirty="0" err="1"/>
              <a:t>h,k</a:t>
            </a:r>
            <a:r>
              <a:rPr lang="en-US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6799BA-5912-54FA-49FA-12FEE38E2306}"/>
              </a:ext>
            </a:extLst>
          </p:cNvPr>
          <p:cNvSpPr txBox="1"/>
          <p:nvPr/>
        </p:nvSpPr>
        <p:spPr>
          <a:xfrm>
            <a:off x="3823209" y="3770432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756A6A-F713-5A4A-1659-1EDDCD92B37F}"/>
              </a:ext>
            </a:extLst>
          </p:cNvPr>
          <p:cNvSpPr txBox="1"/>
          <p:nvPr/>
        </p:nvSpPr>
        <p:spPr>
          <a:xfrm>
            <a:off x="938784" y="1760491"/>
            <a:ext cx="3825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2. </a:t>
            </a:r>
            <a:r>
              <a:rPr lang="en-US" sz="2400" dirty="0" err="1"/>
              <a:t>কেন্দ্র</a:t>
            </a:r>
            <a:r>
              <a:rPr lang="en-US" sz="2400" dirty="0"/>
              <a:t> (</a:t>
            </a:r>
            <a:r>
              <a:rPr lang="en-US" sz="2400" dirty="0" err="1"/>
              <a:t>h,k</a:t>
            </a:r>
            <a:r>
              <a:rPr lang="en-US" sz="2400" dirty="0"/>
              <a:t>) </a:t>
            </a:r>
            <a:r>
              <a:rPr lang="en-US" sz="2400" dirty="0" err="1"/>
              <a:t>দেওয়া</a:t>
            </a:r>
            <a:r>
              <a:rPr lang="en-US" sz="2400" dirty="0"/>
              <a:t> </a:t>
            </a:r>
            <a:r>
              <a:rPr lang="en-US" sz="2400" dirty="0" err="1"/>
              <a:t>থাকলে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CAE8FE-992E-5393-E570-55615EC1A748}"/>
                  </a:ext>
                </a:extLst>
              </p:cNvPr>
              <p:cNvSpPr txBox="1"/>
              <p:nvPr/>
            </p:nvSpPr>
            <p:spPr>
              <a:xfrm>
                <a:off x="6766558" y="2218405"/>
                <a:ext cx="4285754" cy="2755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/>
                  <a:t>বৃত্তের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সমীকরণ</a:t>
                </a:r>
                <a:r>
                  <a:rPr lang="en-US" sz="2400" dirty="0"/>
                  <a:t>,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1CAE8FE-992E-5393-E570-55615EC1A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58" y="2218405"/>
                <a:ext cx="4285754" cy="2755563"/>
              </a:xfrm>
              <a:prstGeom prst="rect">
                <a:avLst/>
              </a:prstGeom>
              <a:blipFill>
                <a:blip r:embed="rId3"/>
                <a:stretch>
                  <a:fillRect l="-2134" t="-17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8F678B-D93B-D692-D739-67974DE349E0}"/>
                  </a:ext>
                </a:extLst>
              </p:cNvPr>
              <p:cNvSpPr txBox="1"/>
              <p:nvPr/>
            </p:nvSpPr>
            <p:spPr>
              <a:xfrm>
                <a:off x="7166100" y="3770432"/>
                <a:ext cx="337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8F678B-D93B-D692-D739-67974DE34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100" y="3770432"/>
                <a:ext cx="3370795" cy="461665"/>
              </a:xfrm>
              <a:prstGeom prst="rect">
                <a:avLst/>
              </a:prstGeom>
              <a:blipFill>
                <a:blip r:embed="rId4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A79B6A7-91E8-1FCB-4190-AD05C6E79A9A}"/>
              </a:ext>
            </a:extLst>
          </p:cNvPr>
          <p:cNvSpPr txBox="1"/>
          <p:nvPr/>
        </p:nvSpPr>
        <p:spPr>
          <a:xfrm>
            <a:off x="938784" y="5545646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D1FFC1-B201-3845-F6A0-1D80FA7C1813}"/>
              </a:ext>
            </a:extLst>
          </p:cNvPr>
          <p:cNvCxnSpPr>
            <a:cxnSpLocks/>
          </p:cNvCxnSpPr>
          <p:nvPr/>
        </p:nvCxnSpPr>
        <p:spPr>
          <a:xfrm>
            <a:off x="2597753" y="4046770"/>
            <a:ext cx="11147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8EE74F-986A-ADF6-C68A-488F2FA0F784}"/>
                  </a:ext>
                </a:extLst>
              </p:cNvPr>
              <p:cNvSpPr txBox="1"/>
              <p:nvPr/>
            </p:nvSpPr>
            <p:spPr>
              <a:xfrm>
                <a:off x="2939181" y="3682389"/>
                <a:ext cx="212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8EE74F-986A-ADF6-C68A-488F2FA0F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181" y="3682389"/>
                <a:ext cx="212789" cy="369332"/>
              </a:xfrm>
              <a:prstGeom prst="rect">
                <a:avLst/>
              </a:prstGeom>
              <a:blipFill>
                <a:blip r:embed="rId5"/>
                <a:stretch>
                  <a:fillRect r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B78AEE9-0DED-B0BA-3F43-4F1EE53EB630}"/>
              </a:ext>
            </a:extLst>
          </p:cNvPr>
          <p:cNvSpPr txBox="1"/>
          <p:nvPr/>
        </p:nvSpPr>
        <p:spPr>
          <a:xfrm>
            <a:off x="7115217" y="4827123"/>
            <a:ext cx="187262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কেন্দ্র</a:t>
            </a:r>
            <a:r>
              <a:rPr lang="en-US" sz="2400" dirty="0"/>
              <a:t> = (</a:t>
            </a:r>
            <a:r>
              <a:rPr lang="en-US" sz="2400" dirty="0" err="1"/>
              <a:t>h,k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 err="1"/>
              <a:t>ব্যাসার্ধ</a:t>
            </a:r>
            <a:r>
              <a:rPr lang="en-US" sz="2400" dirty="0"/>
              <a:t> = a</a:t>
            </a:r>
          </a:p>
          <a:p>
            <a:endParaRPr lang="en-US" sz="2400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6FCC706C-C555-E605-7E17-B5B2E4A85860}"/>
              </a:ext>
            </a:extLst>
          </p:cNvPr>
          <p:cNvSpPr/>
          <p:nvPr/>
        </p:nvSpPr>
        <p:spPr>
          <a:xfrm>
            <a:off x="2589212" y="4033213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4732E9B-4F46-37C4-D63A-11EDE35DE680}"/>
                  </a:ext>
                </a:extLst>
              </p14:cNvPr>
              <p14:cNvContentPartPr/>
              <p14:nvPr/>
            </p14:nvContentPartPr>
            <p14:xfrm>
              <a:off x="2972016" y="2916792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4732E9B-4F46-37C4-D63A-11EDE35DE6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63016" y="290815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9184B14-575B-F32A-13D2-FE32C824D58E}"/>
                  </a:ext>
                </a:extLst>
              </p14:cNvPr>
              <p14:cNvContentPartPr/>
              <p14:nvPr/>
            </p14:nvContentPartPr>
            <p14:xfrm>
              <a:off x="1471896" y="3867552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9184B14-575B-F32A-13D2-FE32C824D5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3256" y="38589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376FF83C-652C-51B1-CF3D-C3E65B44068B}"/>
                  </a:ext>
                </a:extLst>
              </p14:cNvPr>
              <p14:cNvContentPartPr/>
              <p14:nvPr/>
            </p14:nvContentPartPr>
            <p14:xfrm>
              <a:off x="3685176" y="4077864"/>
              <a:ext cx="360" cy="3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376FF83C-652C-51B1-CF3D-C3E65B4406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6176" y="406922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480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7321-75E6-10C8-D282-2FDD46E20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FFDD-18A8-89D8-2C07-922B16131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সমীকরণ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19F2C-387D-811A-7D8A-0C120F84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0E2ED-E842-4FA6-9EFD-8A7507CA6412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A757C-840C-336B-10BE-56CB0DA7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6D3A52-2B4A-BEC4-CE02-8951237B1E88}"/>
              </a:ext>
            </a:extLst>
          </p:cNvPr>
          <p:cNvSpPr txBox="1"/>
          <p:nvPr/>
        </p:nvSpPr>
        <p:spPr>
          <a:xfrm>
            <a:off x="1335721" y="1572962"/>
            <a:ext cx="700430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বৃত্তের</a:t>
            </a:r>
            <a:r>
              <a:rPr lang="en-US" sz="2400" dirty="0"/>
              <a:t> </a:t>
            </a:r>
            <a:r>
              <a:rPr lang="en-US" sz="2400" dirty="0" err="1"/>
              <a:t>প্রমিত</a:t>
            </a:r>
            <a:r>
              <a:rPr lang="en-US" sz="2400" dirty="0"/>
              <a:t> </a:t>
            </a:r>
            <a:r>
              <a:rPr lang="en-US" sz="2400" dirty="0" err="1"/>
              <a:t>সমীকরণ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b="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FF7456-D945-E1F3-A99B-8826D4010F4A}"/>
                  </a:ext>
                </a:extLst>
              </p:cNvPr>
              <p:cNvSpPr txBox="1"/>
              <p:nvPr/>
            </p:nvSpPr>
            <p:spPr>
              <a:xfrm>
                <a:off x="1298698" y="2100755"/>
                <a:ext cx="337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FF7456-D945-E1F3-A99B-8826D4010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698" y="2100755"/>
                <a:ext cx="3370795" cy="461665"/>
              </a:xfrm>
              <a:prstGeom prst="rect">
                <a:avLst/>
              </a:prstGeom>
              <a:blipFill>
                <a:blip r:embed="rId2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60CD28-F021-47F3-91BB-0D79183BF651}"/>
                  </a:ext>
                </a:extLst>
              </p:cNvPr>
              <p:cNvSpPr txBox="1"/>
              <p:nvPr/>
            </p:nvSpPr>
            <p:spPr>
              <a:xfrm>
                <a:off x="1298698" y="2652948"/>
                <a:ext cx="51516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𝑘𝑦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60CD28-F021-47F3-91BB-0D79183BF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698" y="2652948"/>
                <a:ext cx="5151603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8109F2-867C-0019-AA7A-3B6A36FABEE4}"/>
                  </a:ext>
                </a:extLst>
              </p:cNvPr>
              <p:cNvSpPr txBox="1"/>
              <p:nvPr/>
            </p:nvSpPr>
            <p:spPr>
              <a:xfrm>
                <a:off x="1298698" y="3254235"/>
                <a:ext cx="56875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𝑘𝑦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8109F2-867C-0019-AA7A-3B6A36FAB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698" y="3254235"/>
                <a:ext cx="5687583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DB4190-D0DE-3C15-1F36-57776DA2EB44}"/>
                  </a:ext>
                </a:extLst>
              </p:cNvPr>
              <p:cNvSpPr txBox="1"/>
              <p:nvPr/>
            </p:nvSpPr>
            <p:spPr>
              <a:xfrm>
                <a:off x="1477520" y="3992861"/>
                <a:ext cx="54936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DB4190-D0DE-3C15-1F36-57776DA2E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520" y="3992861"/>
                <a:ext cx="5493620" cy="461665"/>
              </a:xfrm>
              <a:prstGeom prst="rect">
                <a:avLst/>
              </a:prstGeom>
              <a:blipFill>
                <a:blip r:embed="rId5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66AB61-8DC2-9C3F-365D-2C84C7CA51B0}"/>
                  </a:ext>
                </a:extLst>
              </p:cNvPr>
              <p:cNvSpPr txBox="1"/>
              <p:nvPr/>
            </p:nvSpPr>
            <p:spPr>
              <a:xfrm>
                <a:off x="979213" y="4002042"/>
                <a:ext cx="8283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Let,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66AB61-8DC2-9C3F-365D-2C84C7CA5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213" y="4002042"/>
                <a:ext cx="828364" cy="461665"/>
              </a:xfrm>
              <a:prstGeom prst="rect">
                <a:avLst/>
              </a:prstGeom>
              <a:blipFill>
                <a:blip r:embed="rId6"/>
                <a:stretch>
                  <a:fillRect l="-11765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1D3F26-A182-3620-52DE-D172B9F54E92}"/>
                  </a:ext>
                </a:extLst>
              </p:cNvPr>
              <p:cNvSpPr txBox="1"/>
              <p:nvPr/>
            </p:nvSpPr>
            <p:spPr>
              <a:xfrm>
                <a:off x="3224559" y="5321474"/>
                <a:ext cx="41537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1D3F26-A182-3620-52DE-D172B9F54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559" y="5321474"/>
                <a:ext cx="4153701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8FBABD4-5CFF-EC6C-BC8C-411FF927811A}"/>
              </a:ext>
            </a:extLst>
          </p:cNvPr>
          <p:cNvSpPr txBox="1"/>
          <p:nvPr/>
        </p:nvSpPr>
        <p:spPr>
          <a:xfrm>
            <a:off x="1298698" y="4829922"/>
            <a:ext cx="3220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বৃত্তের</a:t>
            </a:r>
            <a:r>
              <a:rPr lang="en-US" sz="2400" dirty="0"/>
              <a:t> </a:t>
            </a:r>
            <a:r>
              <a:rPr lang="en-US" sz="2400" dirty="0" err="1"/>
              <a:t>সাধারণ</a:t>
            </a:r>
            <a:r>
              <a:rPr lang="en-US" sz="2400" dirty="0"/>
              <a:t> </a:t>
            </a:r>
            <a:r>
              <a:rPr lang="en-US" sz="2400" dirty="0" err="1"/>
              <a:t>সমীকরণ</a:t>
            </a:r>
            <a:endParaRPr lang="en-US" sz="2400" dirty="0"/>
          </a:p>
        </p:txBody>
      </p:sp>
      <p:pic>
        <p:nvPicPr>
          <p:cNvPr id="23" name="Content Placeholder 6">
            <a:extLst>
              <a:ext uri="{FF2B5EF4-FFF2-40B4-BE49-F238E27FC236}">
                <a16:creationId xmlns:a16="http://schemas.microsoft.com/office/drawing/2014/main" id="{11F104A7-A204-2C4E-BD8E-1B16898DE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140" y="1578974"/>
            <a:ext cx="3317938" cy="3317938"/>
          </a:xfr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A79D905-2FCC-31D4-6006-2DDA325E9ADA}"/>
              </a:ext>
            </a:extLst>
          </p:cNvPr>
          <p:cNvCxnSpPr>
            <a:cxnSpLocks/>
          </p:cNvCxnSpPr>
          <p:nvPr/>
        </p:nvCxnSpPr>
        <p:spPr>
          <a:xfrm>
            <a:off x="7066485" y="4760070"/>
            <a:ext cx="3317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E61D3B-F4AA-BE52-4972-5F8E9E406E1D}"/>
              </a:ext>
            </a:extLst>
          </p:cNvPr>
          <p:cNvCxnSpPr>
            <a:cxnSpLocks/>
          </p:cNvCxnSpPr>
          <p:nvPr/>
        </p:nvCxnSpPr>
        <p:spPr>
          <a:xfrm flipV="1">
            <a:off x="7066485" y="1432829"/>
            <a:ext cx="0" cy="3317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69500A0-E403-9679-2553-023484CA9273}"/>
              </a:ext>
            </a:extLst>
          </p:cNvPr>
          <p:cNvSpPr txBox="1"/>
          <p:nvPr/>
        </p:nvSpPr>
        <p:spPr>
          <a:xfrm>
            <a:off x="8049945" y="2891862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</a:t>
            </a:r>
            <a:r>
              <a:rPr lang="en-US" dirty="0" err="1"/>
              <a:t>h,k</a:t>
            </a:r>
            <a:r>
              <a:rPr lang="en-US" dirty="0"/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A41495-7B4C-DA23-5A77-5E3626E0FBE1}"/>
              </a:ext>
            </a:extLst>
          </p:cNvPr>
          <p:cNvSpPr txBox="1"/>
          <p:nvPr/>
        </p:nvSpPr>
        <p:spPr>
          <a:xfrm>
            <a:off x="9855565" y="2984856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68A08B-EA25-67C0-3ACF-F5068423F3F0}"/>
              </a:ext>
            </a:extLst>
          </p:cNvPr>
          <p:cNvSpPr txBox="1"/>
          <p:nvPr/>
        </p:nvSpPr>
        <p:spPr>
          <a:xfrm>
            <a:off x="6971140" y="476007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D61EFC-4C53-5064-1BBB-A858CBD4B838}"/>
              </a:ext>
            </a:extLst>
          </p:cNvPr>
          <p:cNvCxnSpPr>
            <a:cxnSpLocks/>
          </p:cNvCxnSpPr>
          <p:nvPr/>
        </p:nvCxnSpPr>
        <p:spPr>
          <a:xfrm>
            <a:off x="8630109" y="3261194"/>
            <a:ext cx="11147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7D6BDE-6390-80EF-C1ED-D57BE0819ED6}"/>
                  </a:ext>
                </a:extLst>
              </p:cNvPr>
              <p:cNvSpPr txBox="1"/>
              <p:nvPr/>
            </p:nvSpPr>
            <p:spPr>
              <a:xfrm>
                <a:off x="8971537" y="2896813"/>
                <a:ext cx="212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97D6BDE-6390-80EF-C1ED-D57BE0819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537" y="2896813"/>
                <a:ext cx="212789" cy="369332"/>
              </a:xfrm>
              <a:prstGeom prst="rect">
                <a:avLst/>
              </a:prstGeom>
              <a:blipFill>
                <a:blip r:embed="rId9"/>
                <a:stretch>
                  <a:fillRect r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86BCDF70-B1D8-475C-3463-693AF1BE1D2A}"/>
              </a:ext>
            </a:extLst>
          </p:cNvPr>
          <p:cNvSpPr/>
          <p:nvPr/>
        </p:nvSpPr>
        <p:spPr>
          <a:xfrm>
            <a:off x="8607249" y="323539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08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0420-CA25-5D6B-B99E-712672C6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প্রমিত</a:t>
            </a:r>
            <a:r>
              <a:rPr lang="en-US" dirty="0"/>
              <a:t> </a:t>
            </a:r>
            <a:r>
              <a:rPr lang="en-US" dirty="0" err="1"/>
              <a:t>থেকে</a:t>
            </a:r>
            <a:r>
              <a:rPr lang="en-US" dirty="0"/>
              <a:t> </a:t>
            </a:r>
            <a:r>
              <a:rPr lang="en-US" dirty="0" err="1"/>
              <a:t>সাধারণ</a:t>
            </a:r>
            <a:r>
              <a:rPr lang="en-US" dirty="0"/>
              <a:t> </a:t>
            </a:r>
            <a:r>
              <a:rPr lang="en-US" dirty="0" err="1"/>
              <a:t>সমীকরণ</a:t>
            </a:r>
            <a:r>
              <a:rPr lang="en-US" dirty="0"/>
              <a:t> </a:t>
            </a:r>
            <a:r>
              <a:rPr lang="en-US" dirty="0" err="1"/>
              <a:t>নির্ণয়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258FA-9908-4060-8875-5B25179E2B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2128907"/>
                <a:ext cx="9288186" cy="377762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 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  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258FA-9908-4060-8875-5B25179E2B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128907"/>
                <a:ext cx="9288186" cy="377762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1EED3-3E8D-FE02-28D5-82277A19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080F5-CF28-92A6-F8D4-020E475C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</p:spTree>
    <p:extLst>
      <p:ext uri="{BB962C8B-B14F-4D97-AF65-F5344CB8AC3E}">
        <p14:creationId xmlns:p14="http://schemas.microsoft.com/office/powerpoint/2010/main" val="127535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11127-C29A-0BAC-0820-478441237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6F3B-0CA3-64F3-D104-C38A314AA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সাধারণ</a:t>
            </a:r>
            <a:r>
              <a:rPr lang="en-US" dirty="0"/>
              <a:t> </a:t>
            </a:r>
            <a:r>
              <a:rPr lang="en-US" dirty="0" err="1"/>
              <a:t>থেকে</a:t>
            </a:r>
            <a:r>
              <a:rPr lang="en-US" dirty="0"/>
              <a:t> </a:t>
            </a:r>
            <a:r>
              <a:rPr lang="en-US" dirty="0" err="1"/>
              <a:t>প্রমিত</a:t>
            </a:r>
            <a:r>
              <a:rPr lang="en-US" dirty="0"/>
              <a:t> </a:t>
            </a:r>
            <a:r>
              <a:rPr lang="en-US" dirty="0" err="1"/>
              <a:t>সমীকরণ</a:t>
            </a:r>
            <a:r>
              <a:rPr lang="en-US" dirty="0"/>
              <a:t> </a:t>
            </a:r>
            <a:r>
              <a:rPr lang="en-US" dirty="0" err="1"/>
              <a:t>নির্ণয়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81AB1-56D6-BB75-E37C-755B4AE1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DF8B1-D05D-DB6C-C373-2D69D66A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E77202-C242-6CC0-DC1A-0FA26614C695}"/>
                  </a:ext>
                </a:extLst>
              </p:cNvPr>
              <p:cNvSpPr txBox="1"/>
              <p:nvPr/>
            </p:nvSpPr>
            <p:spPr>
              <a:xfrm>
                <a:off x="2589212" y="2128335"/>
                <a:ext cx="44036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E77202-C242-6CC0-DC1A-0FA26614C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2128335"/>
                <a:ext cx="4403641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B2AD6B-91A1-CBC5-FE2A-E3CD82DA7805}"/>
                  </a:ext>
                </a:extLst>
              </p:cNvPr>
              <p:cNvSpPr txBox="1"/>
              <p:nvPr/>
            </p:nvSpPr>
            <p:spPr>
              <a:xfrm>
                <a:off x="2589212" y="3077090"/>
                <a:ext cx="50833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B2AD6B-91A1-CBC5-FE2A-E3CD82DA7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3077090"/>
                <a:ext cx="5083315" cy="461665"/>
              </a:xfrm>
              <a:prstGeom prst="rect">
                <a:avLst/>
              </a:prstGeom>
              <a:blipFill>
                <a:blip r:embed="rId3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613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6EB38-4120-2A3F-D37A-DC5C2B7F8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60F67-D4F6-4CC7-9CB3-975827759A74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2A453-3ADE-FBBC-1BF8-8F9FB05A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D8B429-D17C-EC78-BAA9-613FED89B1C4}"/>
                  </a:ext>
                </a:extLst>
              </p:cNvPr>
              <p:cNvSpPr txBox="1"/>
              <p:nvPr/>
            </p:nvSpPr>
            <p:spPr>
              <a:xfrm>
                <a:off x="1386615" y="2559986"/>
                <a:ext cx="41537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D8B429-D17C-EC78-BAA9-613FED89B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615" y="2559986"/>
                <a:ext cx="4153701" cy="461665"/>
              </a:xfrm>
              <a:prstGeom prst="rect">
                <a:avLst/>
              </a:prstGeom>
              <a:blipFill>
                <a:blip r:embed="rId2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D8CA204-DDD4-A344-241A-F7BC615FE692}"/>
              </a:ext>
            </a:extLst>
          </p:cNvPr>
          <p:cNvSpPr txBox="1"/>
          <p:nvPr/>
        </p:nvSpPr>
        <p:spPr>
          <a:xfrm>
            <a:off x="1358747" y="1905000"/>
            <a:ext cx="3220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বৃত্তের</a:t>
            </a:r>
            <a:r>
              <a:rPr lang="en-US" sz="2400" dirty="0"/>
              <a:t> </a:t>
            </a:r>
            <a:r>
              <a:rPr lang="en-US" sz="2400" dirty="0" err="1"/>
              <a:t>সাধারণ</a:t>
            </a:r>
            <a:r>
              <a:rPr lang="en-US" sz="2400" dirty="0"/>
              <a:t> </a:t>
            </a:r>
            <a:r>
              <a:rPr lang="en-US" sz="2400" dirty="0" err="1"/>
              <a:t>সমীকরণ</a:t>
            </a:r>
            <a:endParaRPr lang="en-US" sz="24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FCE9F2-2BE4-024F-A443-C71ED6E07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সমীকরণ</a:t>
            </a:r>
            <a:endParaRPr lang="en-US" dirty="0"/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C99AF75C-2C2C-1843-1639-41911ABAD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140" y="1578974"/>
            <a:ext cx="3317938" cy="3317938"/>
          </a:xfr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7C6649-63E5-2E23-9C55-2831B03ECD12}"/>
              </a:ext>
            </a:extLst>
          </p:cNvPr>
          <p:cNvCxnSpPr>
            <a:cxnSpLocks/>
          </p:cNvCxnSpPr>
          <p:nvPr/>
        </p:nvCxnSpPr>
        <p:spPr>
          <a:xfrm>
            <a:off x="7066485" y="4760070"/>
            <a:ext cx="3317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88A9DF-107F-B7AC-40AD-F5A65DAA46E6}"/>
              </a:ext>
            </a:extLst>
          </p:cNvPr>
          <p:cNvCxnSpPr>
            <a:cxnSpLocks/>
          </p:cNvCxnSpPr>
          <p:nvPr/>
        </p:nvCxnSpPr>
        <p:spPr>
          <a:xfrm flipV="1">
            <a:off x="7066485" y="1432829"/>
            <a:ext cx="0" cy="3317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B379428-7E4A-4FD1-7795-00A1FBEE65A6}"/>
              </a:ext>
            </a:extLst>
          </p:cNvPr>
          <p:cNvSpPr txBox="1"/>
          <p:nvPr/>
        </p:nvSpPr>
        <p:spPr>
          <a:xfrm>
            <a:off x="8049945" y="2891862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</a:t>
            </a:r>
            <a:r>
              <a:rPr lang="en-US" dirty="0" err="1"/>
              <a:t>h,k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9C5E89-3BC0-B01D-9BCC-A85C4F09F12D}"/>
              </a:ext>
            </a:extLst>
          </p:cNvPr>
          <p:cNvSpPr txBox="1"/>
          <p:nvPr/>
        </p:nvSpPr>
        <p:spPr>
          <a:xfrm>
            <a:off x="9855565" y="2984856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414081-079B-9E95-213F-282DCBF90965}"/>
              </a:ext>
            </a:extLst>
          </p:cNvPr>
          <p:cNvSpPr txBox="1"/>
          <p:nvPr/>
        </p:nvSpPr>
        <p:spPr>
          <a:xfrm>
            <a:off x="6971140" y="476007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5A664D5-A21A-FF1C-9F9D-00864F851829}"/>
              </a:ext>
            </a:extLst>
          </p:cNvPr>
          <p:cNvCxnSpPr>
            <a:cxnSpLocks/>
          </p:cNvCxnSpPr>
          <p:nvPr/>
        </p:nvCxnSpPr>
        <p:spPr>
          <a:xfrm>
            <a:off x="8630109" y="3261194"/>
            <a:ext cx="11147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FF5062-9254-DDF5-5C1C-C296862DB2C5}"/>
                  </a:ext>
                </a:extLst>
              </p:cNvPr>
              <p:cNvSpPr txBox="1"/>
              <p:nvPr/>
            </p:nvSpPr>
            <p:spPr>
              <a:xfrm>
                <a:off x="8971537" y="2896813"/>
                <a:ext cx="212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FF5062-9254-DDF5-5C1C-C296862DB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1537" y="2896813"/>
                <a:ext cx="212789" cy="369332"/>
              </a:xfrm>
              <a:prstGeom prst="rect">
                <a:avLst/>
              </a:prstGeom>
              <a:blipFill>
                <a:blip r:embed="rId4"/>
                <a:stretch>
                  <a:fillRect r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99BC6F8-E550-2AD2-3EDB-DC187AB575D7}"/>
                  </a:ext>
                </a:extLst>
              </p:cNvPr>
              <p:cNvSpPr txBox="1"/>
              <p:nvPr/>
            </p:nvSpPr>
            <p:spPr>
              <a:xfrm>
                <a:off x="1397894" y="3399638"/>
                <a:ext cx="3546677" cy="16475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 err="1"/>
                  <a:t>কেন্দ্র</a:t>
                </a:r>
                <a:r>
                  <a:rPr lang="en-US" sz="2400" dirty="0"/>
                  <a:t>, (</a:t>
                </a:r>
                <a:r>
                  <a:rPr lang="en-US" sz="2400" dirty="0" err="1"/>
                  <a:t>h,k</a:t>
                </a:r>
                <a:r>
                  <a:rPr lang="en-US" sz="2400" dirty="0"/>
                  <a:t>) = (-g,-f)</a:t>
                </a:r>
              </a:p>
              <a:p>
                <a:endParaRPr lang="en-US" sz="2400" dirty="0"/>
              </a:p>
              <a:p>
                <a:r>
                  <a:rPr lang="en-US" sz="2400" dirty="0" err="1"/>
                  <a:t>ব্যাসার্ধ</a:t>
                </a:r>
                <a:r>
                  <a:rPr lang="en-US" sz="2400" dirty="0"/>
                  <a:t>, a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99BC6F8-E550-2AD2-3EDB-DC187AB57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894" y="3399638"/>
                <a:ext cx="3546677" cy="1647567"/>
              </a:xfrm>
              <a:prstGeom prst="rect">
                <a:avLst/>
              </a:prstGeom>
              <a:blipFill>
                <a:blip r:embed="rId5"/>
                <a:stretch>
                  <a:fillRect l="-2577" t="-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7EEC00FA-45F3-F231-8173-AFDD77A180D8}"/>
              </a:ext>
            </a:extLst>
          </p:cNvPr>
          <p:cNvSpPr/>
          <p:nvPr/>
        </p:nvSpPr>
        <p:spPr>
          <a:xfrm>
            <a:off x="8607249" y="323539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82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D0029-A304-911B-B637-9E6C0C77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প্রশ্নোত্তর</a:t>
            </a:r>
            <a:r>
              <a:rPr lang="en-US" dirty="0"/>
              <a:t> </a:t>
            </a:r>
            <a:r>
              <a:rPr lang="en-US" dirty="0" err="1"/>
              <a:t>পর্ব</a:t>
            </a:r>
            <a:r>
              <a:rPr lang="en-US" dirty="0"/>
              <a:t> - ০১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684FA-8ECB-5762-8AF6-C32B3CDBF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5152" y="1532999"/>
            <a:ext cx="8915400" cy="3257662"/>
          </a:xfrm>
        </p:spPr>
        <p:txBody>
          <a:bodyPr/>
          <a:lstStyle/>
          <a:p>
            <a:r>
              <a:rPr lang="en-US" sz="2400" dirty="0" err="1"/>
              <a:t>বৃত্তের</a:t>
            </a:r>
            <a:r>
              <a:rPr lang="en-US" sz="2400" dirty="0"/>
              <a:t> </a:t>
            </a:r>
            <a:r>
              <a:rPr lang="en-US" sz="2400" dirty="0" err="1"/>
              <a:t>সমীকরণ</a:t>
            </a:r>
            <a:r>
              <a:rPr lang="en-US" sz="2400" dirty="0"/>
              <a:t> </a:t>
            </a:r>
            <a:r>
              <a:rPr lang="en-US" sz="2400" dirty="0" err="1"/>
              <a:t>দেওয়া</a:t>
            </a:r>
            <a:r>
              <a:rPr lang="en-US" sz="2400" dirty="0"/>
              <a:t> </a:t>
            </a:r>
            <a:r>
              <a:rPr lang="en-US" sz="2400" dirty="0" err="1"/>
              <a:t>আছে</a:t>
            </a:r>
            <a:r>
              <a:rPr lang="en-US" sz="2400" dirty="0"/>
              <a:t>, </a:t>
            </a:r>
            <a:r>
              <a:rPr lang="en-US" sz="2400" dirty="0" err="1"/>
              <a:t>কেন্ত্র</a:t>
            </a:r>
            <a:r>
              <a:rPr lang="en-US" sz="2400" dirty="0"/>
              <a:t> </a:t>
            </a:r>
            <a:r>
              <a:rPr lang="en-US" sz="2400" dirty="0" err="1"/>
              <a:t>এবং</a:t>
            </a:r>
            <a:r>
              <a:rPr lang="en-US" sz="2400" dirty="0"/>
              <a:t> </a:t>
            </a:r>
            <a:r>
              <a:rPr lang="en-US" sz="2400" dirty="0" err="1"/>
              <a:t>ব্যাসার্ধ</a:t>
            </a:r>
            <a:r>
              <a:rPr lang="en-US" sz="2400" dirty="0"/>
              <a:t> </a:t>
            </a:r>
            <a:r>
              <a:rPr lang="en-US" sz="2400" dirty="0" err="1"/>
              <a:t>নির্ণয়</a:t>
            </a:r>
            <a:r>
              <a:rPr lang="en-US" sz="2400" dirty="0"/>
              <a:t> </a:t>
            </a:r>
            <a:r>
              <a:rPr lang="en-US" sz="2400" dirty="0" err="1"/>
              <a:t>করো</a:t>
            </a:r>
            <a:r>
              <a:rPr lang="en-US" sz="2400" dirty="0"/>
              <a:t>।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323EE-4B56-DCA0-FE21-EC1F3A55C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06F4E-F753-B0A1-53D7-C72EC89A1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39E52A-1999-158F-790F-7C6453EEC7C1}"/>
                  </a:ext>
                </a:extLst>
              </p:cNvPr>
              <p:cNvSpPr txBox="1"/>
              <p:nvPr/>
            </p:nvSpPr>
            <p:spPr>
              <a:xfrm>
                <a:off x="2589212" y="2128335"/>
                <a:ext cx="44036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39E52A-1999-158F-790F-7C6453EEC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2128335"/>
                <a:ext cx="4403641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A18AFD-44CE-36C2-CFD4-1521F6873628}"/>
                  </a:ext>
                </a:extLst>
              </p:cNvPr>
              <p:cNvSpPr txBox="1"/>
              <p:nvPr/>
            </p:nvSpPr>
            <p:spPr>
              <a:xfrm>
                <a:off x="2589212" y="2782264"/>
                <a:ext cx="47434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A18AFD-44CE-36C2-CFD4-1521F6873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2782264"/>
                <a:ext cx="4743478" cy="461665"/>
              </a:xfrm>
              <a:prstGeom prst="rect">
                <a:avLst/>
              </a:prstGeom>
              <a:blipFill>
                <a:blip r:embed="rId3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582F64-BD03-FFD4-64B5-AC56461FC0E2}"/>
                  </a:ext>
                </a:extLst>
              </p:cNvPr>
              <p:cNvSpPr txBox="1"/>
              <p:nvPr/>
            </p:nvSpPr>
            <p:spPr>
              <a:xfrm>
                <a:off x="2589212" y="3456433"/>
                <a:ext cx="50833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1582F64-BD03-FFD4-64B5-AC56461FC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3456433"/>
                <a:ext cx="5083315" cy="461665"/>
              </a:xfrm>
              <a:prstGeom prst="rect">
                <a:avLst/>
              </a:prstGeom>
              <a:blipFill>
                <a:blip r:embed="rId4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3489AF-8E5F-AC83-7672-0E094B1DD2AF}"/>
                  </a:ext>
                </a:extLst>
              </p:cNvPr>
              <p:cNvSpPr txBox="1"/>
              <p:nvPr/>
            </p:nvSpPr>
            <p:spPr>
              <a:xfrm>
                <a:off x="2589212" y="4163955"/>
                <a:ext cx="50833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3489AF-8E5F-AC83-7672-0E094B1DD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4163955"/>
                <a:ext cx="5083315" cy="461665"/>
              </a:xfrm>
              <a:prstGeom prst="rect">
                <a:avLst/>
              </a:prstGeom>
              <a:blipFill>
                <a:blip r:embed="rId5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78B6A7B-BFC9-8923-8260-6772DD1688DF}"/>
              </a:ext>
            </a:extLst>
          </p:cNvPr>
          <p:cNvSpPr txBox="1">
            <a:spLocks/>
          </p:cNvSpPr>
          <p:nvPr/>
        </p:nvSpPr>
        <p:spPr>
          <a:xfrm>
            <a:off x="2436434" y="4794237"/>
            <a:ext cx="8915400" cy="1183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কেন্ত্র</a:t>
            </a:r>
            <a:r>
              <a:rPr lang="en-US" sz="2400" dirty="0"/>
              <a:t> </a:t>
            </a:r>
            <a:r>
              <a:rPr lang="en-US" sz="2400" dirty="0" err="1"/>
              <a:t>এবং</a:t>
            </a:r>
            <a:r>
              <a:rPr lang="en-US" sz="2400" dirty="0"/>
              <a:t> </a:t>
            </a:r>
            <a:r>
              <a:rPr lang="en-US" sz="2400" dirty="0" err="1"/>
              <a:t>ব্যাসার্ধ</a:t>
            </a:r>
            <a:r>
              <a:rPr lang="en-US" sz="2400" dirty="0"/>
              <a:t> </a:t>
            </a:r>
            <a:r>
              <a:rPr lang="en-US" sz="2400" dirty="0" err="1"/>
              <a:t>দেওয়া</a:t>
            </a:r>
            <a:r>
              <a:rPr lang="en-US" sz="2400" dirty="0"/>
              <a:t> </a:t>
            </a:r>
            <a:r>
              <a:rPr lang="en-US" sz="2400" dirty="0" err="1"/>
              <a:t>আছে</a:t>
            </a:r>
            <a:r>
              <a:rPr lang="en-US" sz="2400" dirty="0"/>
              <a:t>, </a:t>
            </a:r>
            <a:r>
              <a:rPr lang="en-US" sz="2400" dirty="0" err="1"/>
              <a:t>বৃত্তের</a:t>
            </a:r>
            <a:r>
              <a:rPr lang="en-US" sz="2400" dirty="0"/>
              <a:t> </a:t>
            </a:r>
            <a:r>
              <a:rPr lang="en-US" sz="2400" dirty="0" err="1"/>
              <a:t>সমীকরণ</a:t>
            </a:r>
            <a:r>
              <a:rPr lang="en-US" sz="2400" dirty="0"/>
              <a:t> </a:t>
            </a:r>
            <a:r>
              <a:rPr lang="en-US" sz="2400" dirty="0" err="1"/>
              <a:t>নির্ণয়</a:t>
            </a:r>
            <a:r>
              <a:rPr lang="en-US" sz="2400" dirty="0"/>
              <a:t> </a:t>
            </a:r>
            <a:r>
              <a:rPr lang="en-US" sz="2400" dirty="0" err="1"/>
              <a:t>করো</a:t>
            </a:r>
            <a:r>
              <a:rPr lang="en-US" sz="2400" dirty="0"/>
              <a:t>।</a:t>
            </a:r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53874A-87DD-C1C4-36C6-C4CBA8E2611D}"/>
                  </a:ext>
                </a:extLst>
              </p:cNvPr>
              <p:cNvSpPr txBox="1"/>
              <p:nvPr/>
            </p:nvSpPr>
            <p:spPr>
              <a:xfrm>
                <a:off x="2575649" y="5429593"/>
                <a:ext cx="3323923" cy="537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কেন্দ্র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ব্যাসার্ধ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=5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53874A-87DD-C1C4-36C6-C4CBA8E26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649" y="5429593"/>
                <a:ext cx="3323923" cy="537904"/>
              </a:xfrm>
              <a:prstGeom prst="rect">
                <a:avLst/>
              </a:prstGeom>
              <a:blipFill>
                <a:blip r:embed="rId6"/>
                <a:stretch>
                  <a:fillRect r="-18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12C030-B4BF-8587-A990-C324C486588E}"/>
                  </a:ext>
                </a:extLst>
              </p:cNvPr>
              <p:cNvSpPr txBox="1"/>
              <p:nvPr/>
            </p:nvSpPr>
            <p:spPr>
              <a:xfrm>
                <a:off x="6096000" y="5429593"/>
                <a:ext cx="4065537" cy="537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কেন্দ্র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ব্যাসার্ধ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12C030-B4BF-8587-A990-C324C4865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429593"/>
                <a:ext cx="4065537" cy="5379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CC268C94-5BA0-1D08-40F8-745CAE3555DC}"/>
                  </a:ext>
                </a:extLst>
              </p14:cNvPr>
              <p14:cNvContentPartPr/>
              <p14:nvPr/>
            </p14:nvContentPartPr>
            <p14:xfrm>
              <a:off x="-621864" y="529992"/>
              <a:ext cx="360" cy="36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CC268C94-5BA0-1D08-40F8-745CAE3555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630864" y="520992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412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57BCA-0D2F-9BDA-8D51-5FF6E17FF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01E9F-994B-F837-0B7C-40A6BC84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60F67-D4F6-4CC7-9CB3-975827759A74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44045-5B85-D094-423E-D5767840F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B54EEDA-84D5-04BD-CFE8-63D14390F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সমীকরণ</a:t>
            </a:r>
            <a:endParaRPr lang="en-US" dirty="0"/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C0E76EC9-1574-F536-37FD-91DC3F816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140" y="1578974"/>
            <a:ext cx="3317938" cy="3317938"/>
          </a:xfr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A6F765-CB97-7CD7-9C8F-EA1FBF151109}"/>
              </a:ext>
            </a:extLst>
          </p:cNvPr>
          <p:cNvCxnSpPr>
            <a:cxnSpLocks/>
          </p:cNvCxnSpPr>
          <p:nvPr/>
        </p:nvCxnSpPr>
        <p:spPr>
          <a:xfrm>
            <a:off x="7066485" y="4760070"/>
            <a:ext cx="3317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F1BB6B-A587-80E3-8525-1DDB12EC7323}"/>
              </a:ext>
            </a:extLst>
          </p:cNvPr>
          <p:cNvCxnSpPr>
            <a:cxnSpLocks/>
          </p:cNvCxnSpPr>
          <p:nvPr/>
        </p:nvCxnSpPr>
        <p:spPr>
          <a:xfrm flipV="1">
            <a:off x="7066485" y="1432829"/>
            <a:ext cx="0" cy="3317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70B2D6A-A37A-BC0F-5212-3E06FEB3B424}"/>
              </a:ext>
            </a:extLst>
          </p:cNvPr>
          <p:cNvSpPr txBox="1"/>
          <p:nvPr/>
        </p:nvSpPr>
        <p:spPr>
          <a:xfrm>
            <a:off x="8246413" y="3354188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</a:t>
            </a:r>
            <a:r>
              <a:rPr lang="en-US" dirty="0" err="1"/>
              <a:t>h,k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38649B-D794-9188-756C-A85C84C481D0}"/>
              </a:ext>
            </a:extLst>
          </p:cNvPr>
          <p:cNvSpPr txBox="1"/>
          <p:nvPr/>
        </p:nvSpPr>
        <p:spPr>
          <a:xfrm>
            <a:off x="9855799" y="3091798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B(x2,y2)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53D445-A18F-8E64-D9B3-82A97AB40998}"/>
              </a:ext>
            </a:extLst>
          </p:cNvPr>
          <p:cNvSpPr txBox="1"/>
          <p:nvPr/>
        </p:nvSpPr>
        <p:spPr>
          <a:xfrm>
            <a:off x="6971140" y="476007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6D7C59-9377-C91E-CAD6-12A3D3ED16CF}"/>
              </a:ext>
            </a:extLst>
          </p:cNvPr>
          <p:cNvCxnSpPr>
            <a:cxnSpLocks/>
          </p:cNvCxnSpPr>
          <p:nvPr/>
        </p:nvCxnSpPr>
        <p:spPr>
          <a:xfrm>
            <a:off x="7488936" y="3261194"/>
            <a:ext cx="22558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1A81C19-7086-9352-7746-3FC90F10C669}"/>
              </a:ext>
            </a:extLst>
          </p:cNvPr>
          <p:cNvSpPr txBox="1"/>
          <p:nvPr/>
        </p:nvSpPr>
        <p:spPr>
          <a:xfrm>
            <a:off x="938784" y="1760491"/>
            <a:ext cx="5245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৩. </a:t>
            </a:r>
            <a:r>
              <a:rPr lang="en-US" sz="2400" dirty="0" err="1"/>
              <a:t>ব্যাসের</a:t>
            </a:r>
            <a:r>
              <a:rPr lang="en-US" sz="2400" dirty="0"/>
              <a:t> </a:t>
            </a:r>
            <a:r>
              <a:rPr lang="en-US" sz="2400" dirty="0" err="1"/>
              <a:t>প্রান্তবিন্দু</a:t>
            </a:r>
            <a:r>
              <a:rPr lang="en-US" sz="2400" dirty="0"/>
              <a:t> A, B </a:t>
            </a:r>
            <a:r>
              <a:rPr lang="en-US" sz="2400" dirty="0" err="1"/>
              <a:t>দেওয়া</a:t>
            </a:r>
            <a:r>
              <a:rPr lang="en-US" sz="2400" dirty="0"/>
              <a:t> </a:t>
            </a:r>
            <a:r>
              <a:rPr lang="en-US" sz="2400" dirty="0" err="1"/>
              <a:t>থাকলে</a:t>
            </a:r>
            <a:endParaRPr lang="en-US" sz="2400" dirty="0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D9C32C01-070C-1925-3C14-D6705C842B9F}"/>
              </a:ext>
            </a:extLst>
          </p:cNvPr>
          <p:cNvSpPr/>
          <p:nvPr/>
        </p:nvSpPr>
        <p:spPr>
          <a:xfrm>
            <a:off x="8607249" y="323539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0FDBFB-9B98-74D0-252A-D2C8FB930DE5}"/>
              </a:ext>
            </a:extLst>
          </p:cNvPr>
          <p:cNvCxnSpPr>
            <a:cxnSpLocks/>
          </p:cNvCxnSpPr>
          <p:nvPr/>
        </p:nvCxnSpPr>
        <p:spPr>
          <a:xfrm flipV="1">
            <a:off x="7484440" y="2103120"/>
            <a:ext cx="1122809" cy="1155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AC9CA4-7898-539C-E247-E972117D46E5}"/>
              </a:ext>
            </a:extLst>
          </p:cNvPr>
          <p:cNvCxnSpPr>
            <a:cxnSpLocks/>
          </p:cNvCxnSpPr>
          <p:nvPr/>
        </p:nvCxnSpPr>
        <p:spPr>
          <a:xfrm flipH="1" flipV="1">
            <a:off x="8607249" y="2097930"/>
            <a:ext cx="1152971" cy="11603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25E3A94-849B-1115-8B05-7A02211664B4}"/>
              </a:ext>
            </a:extLst>
          </p:cNvPr>
          <p:cNvCxnSpPr>
            <a:cxnSpLocks/>
          </p:cNvCxnSpPr>
          <p:nvPr/>
        </p:nvCxnSpPr>
        <p:spPr>
          <a:xfrm flipV="1">
            <a:off x="8622146" y="2267253"/>
            <a:ext cx="152400" cy="156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A092EAA-77E4-69B6-2105-43D388349097}"/>
              </a:ext>
            </a:extLst>
          </p:cNvPr>
          <p:cNvCxnSpPr>
            <a:cxnSpLocks/>
          </p:cNvCxnSpPr>
          <p:nvPr/>
        </p:nvCxnSpPr>
        <p:spPr>
          <a:xfrm flipH="1" flipV="1">
            <a:off x="8445878" y="2263005"/>
            <a:ext cx="171000" cy="1686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9E89612-C821-E4B1-0BF5-73857C155E5B}"/>
              </a:ext>
            </a:extLst>
          </p:cNvPr>
          <p:cNvSpPr txBox="1"/>
          <p:nvPr/>
        </p:nvSpPr>
        <p:spPr>
          <a:xfrm>
            <a:off x="8264057" y="167247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F85657-761D-8CC9-B368-C1D1BB807146}"/>
              </a:ext>
            </a:extLst>
          </p:cNvPr>
          <p:cNvSpPr txBox="1"/>
          <p:nvPr/>
        </p:nvSpPr>
        <p:spPr>
          <a:xfrm>
            <a:off x="6481279" y="3142821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A(x1,y1)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40F857-B93A-4A06-4869-D8E050888714}"/>
              </a:ext>
            </a:extLst>
          </p:cNvPr>
          <p:cNvSpPr txBox="1"/>
          <p:nvPr/>
        </p:nvSpPr>
        <p:spPr>
          <a:xfrm>
            <a:off x="8768620" y="2593617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292EF2-CE8E-7CA4-FD0E-933127E9135C}"/>
              </a:ext>
            </a:extLst>
          </p:cNvPr>
          <p:cNvSpPr txBox="1"/>
          <p:nvPr/>
        </p:nvSpPr>
        <p:spPr>
          <a:xfrm>
            <a:off x="7954633" y="2606574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F529AD-2F81-DD03-183C-A1068A497579}"/>
              </a:ext>
            </a:extLst>
          </p:cNvPr>
          <p:cNvSpPr txBox="1"/>
          <p:nvPr/>
        </p:nvSpPr>
        <p:spPr>
          <a:xfrm>
            <a:off x="954028" y="2597964"/>
            <a:ext cx="5101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যেহেতু, AP </a:t>
            </a:r>
            <a:r>
              <a:rPr lang="en-US" sz="2400" dirty="0" err="1"/>
              <a:t>রেখা</a:t>
            </a:r>
            <a:r>
              <a:rPr lang="en-US" sz="2400" dirty="0"/>
              <a:t> BP </a:t>
            </a:r>
            <a:r>
              <a:rPr lang="en-US" sz="2400" dirty="0" err="1"/>
              <a:t>রেখার</a:t>
            </a:r>
            <a:r>
              <a:rPr lang="en-US" sz="2400" dirty="0"/>
              <a:t> </a:t>
            </a:r>
            <a:r>
              <a:rPr lang="en-US" sz="2400" dirty="0" err="1"/>
              <a:t>উপর</a:t>
            </a:r>
            <a:r>
              <a:rPr lang="en-US" sz="2400" dirty="0"/>
              <a:t> </a:t>
            </a:r>
            <a:r>
              <a:rPr lang="en-US" sz="2400" dirty="0" err="1"/>
              <a:t>লম্ব</a:t>
            </a:r>
            <a:r>
              <a:rPr lang="en-US" sz="2400" dirty="0"/>
              <a:t>, </a:t>
            </a:r>
          </a:p>
          <a:p>
            <a:endParaRPr lang="en-US" sz="2400" dirty="0"/>
          </a:p>
          <a:p>
            <a:r>
              <a:rPr lang="en-US" sz="2400" dirty="0" err="1"/>
              <a:t>সুতরাং</a:t>
            </a:r>
            <a:r>
              <a:rPr lang="en-US" sz="2400" dirty="0"/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BDB557A-D4E0-46A7-941F-910AD2F9E67C}"/>
                  </a:ext>
                </a:extLst>
              </p:cNvPr>
              <p:cNvSpPr txBox="1"/>
              <p:nvPr/>
            </p:nvSpPr>
            <p:spPr>
              <a:xfrm>
                <a:off x="1391755" y="3449315"/>
                <a:ext cx="34386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BDB557A-D4E0-46A7-941F-910AD2F9E6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755" y="3449315"/>
                <a:ext cx="3438662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14D6BE9-8EE3-04F8-54D1-09591E2D8770}"/>
                  </a:ext>
                </a:extLst>
              </p:cNvPr>
              <p:cNvSpPr txBox="1"/>
              <p:nvPr/>
            </p:nvSpPr>
            <p:spPr>
              <a:xfrm>
                <a:off x="1582863" y="4089760"/>
                <a:ext cx="2938753" cy="6939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14D6BE9-8EE3-04F8-54D1-09591E2D8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863" y="4089760"/>
                <a:ext cx="2938753" cy="6939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8294C6F-6E4E-A5D0-3074-FEC9A438E232}"/>
                  </a:ext>
                </a:extLst>
              </p:cNvPr>
              <p:cNvSpPr txBox="1"/>
              <p:nvPr/>
            </p:nvSpPr>
            <p:spPr>
              <a:xfrm>
                <a:off x="1528430" y="5073896"/>
                <a:ext cx="52513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8294C6F-6E4E-A5D0-3074-FEC9A438E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30" y="5073896"/>
                <a:ext cx="5251374" cy="369332"/>
              </a:xfrm>
              <a:prstGeom prst="rect">
                <a:avLst/>
              </a:prstGeom>
              <a:blipFill>
                <a:blip r:embed="rId5"/>
                <a:stretch>
                  <a:fillRect r="-1510" b="-37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09BF8D0-509B-3BBE-152B-B10CD6E61FF0}"/>
                  </a:ext>
                </a:extLst>
              </p:cNvPr>
              <p:cNvSpPr txBox="1"/>
              <p:nvPr/>
            </p:nvSpPr>
            <p:spPr>
              <a:xfrm>
                <a:off x="1528430" y="5620211"/>
                <a:ext cx="55560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09BF8D0-509B-3BBE-152B-B10CD6E61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430" y="5620211"/>
                <a:ext cx="5556073" cy="369332"/>
              </a:xfrm>
              <a:prstGeom prst="rect">
                <a:avLst/>
              </a:prstGeom>
              <a:blipFill>
                <a:blip r:embed="rId6"/>
                <a:stretch>
                  <a:fillRect r="-659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ADFABC3-F6E8-F391-1B41-A7EB2887430B}"/>
                  </a:ext>
                </a:extLst>
              </p14:cNvPr>
              <p14:cNvContentPartPr/>
              <p14:nvPr/>
            </p14:nvContentPartPr>
            <p14:xfrm>
              <a:off x="7461216" y="3291912"/>
              <a:ext cx="360" cy="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ADFABC3-F6E8-F391-1B41-A7EB288743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52216" y="328291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6058519-FF2F-BBE6-8784-195FC15FA076}"/>
                  </a:ext>
                </a:extLst>
              </p14:cNvPr>
              <p14:cNvContentPartPr/>
              <p14:nvPr/>
            </p14:nvContentPartPr>
            <p14:xfrm>
              <a:off x="9774936" y="3264192"/>
              <a:ext cx="360" cy="1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6058519-FF2F-BBE6-8784-195FC15FA07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66296" y="3255192"/>
                <a:ext cx="18000" cy="1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DF326F-BFF7-4E6B-F56D-ED020BE2F05B}"/>
              </a:ext>
            </a:extLst>
          </p:cNvPr>
          <p:cNvGrpSpPr/>
          <p:nvPr/>
        </p:nvGrpSpPr>
        <p:grpSpPr>
          <a:xfrm>
            <a:off x="9308376" y="4169592"/>
            <a:ext cx="360" cy="9360"/>
            <a:chOff x="9308376" y="4169592"/>
            <a:chExt cx="360" cy="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0732B77-89F1-E9FF-FDCB-31A02853312A}"/>
                    </a:ext>
                  </a:extLst>
                </p14:cNvPr>
                <p14:cNvContentPartPr/>
                <p14:nvPr/>
              </p14:nvContentPartPr>
              <p14:xfrm>
                <a:off x="9308376" y="4178592"/>
                <a:ext cx="36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0732B77-89F1-E9FF-FDCB-31A02853312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99736" y="416995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62D6ACA-D69B-8D25-82FD-9044109F1E0F}"/>
                    </a:ext>
                  </a:extLst>
                </p14:cNvPr>
                <p14:cNvContentPartPr/>
                <p14:nvPr/>
              </p14:nvContentPartPr>
              <p14:xfrm>
                <a:off x="9308376" y="4169592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62D6ACA-D69B-8D25-82FD-9044109F1E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99736" y="416095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7171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971D-CE1E-A72F-C65D-F9528889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সাধারণ</a:t>
            </a:r>
            <a:r>
              <a:rPr lang="en-US" dirty="0"/>
              <a:t> </a:t>
            </a:r>
            <a:r>
              <a:rPr lang="en-US" dirty="0" err="1"/>
              <a:t>সমীকরণের</a:t>
            </a:r>
            <a:r>
              <a:rPr lang="en-US" dirty="0"/>
              <a:t> </a:t>
            </a:r>
            <a:r>
              <a:rPr lang="en-US" dirty="0" err="1"/>
              <a:t>বৈশিষ্ট্যসমূহ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EC6EC-358D-760F-CF6C-D382727BA9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3429000"/>
                <a:ext cx="8915400" cy="2482222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romanLcParenBoth"/>
                </a:pPr>
                <a:r>
                  <a:rPr lang="en-US" sz="2400" dirty="0"/>
                  <a:t>x ও y </a:t>
                </a:r>
                <a:r>
                  <a:rPr lang="en-US" sz="2400" dirty="0" err="1"/>
                  <a:t>এর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দ্বিঘাত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সমীকরণ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থাকবে</a:t>
                </a:r>
                <a:r>
                  <a:rPr lang="en-US" sz="2400" dirty="0"/>
                  <a:t>,</a:t>
                </a:r>
              </a:p>
              <a:p>
                <a:pPr marL="514350" indent="-514350">
                  <a:buAutoNum type="romanLcParenBoth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এর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সহগ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সমান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হবে</a:t>
                </a:r>
                <a:r>
                  <a:rPr lang="en-US" sz="2400" dirty="0"/>
                  <a:t>,</a:t>
                </a:r>
              </a:p>
              <a:p>
                <a:pPr marL="514350" indent="-514350">
                  <a:buAutoNum type="romanLcParenBoth"/>
                </a:pPr>
                <a:r>
                  <a:rPr lang="en-US" sz="2400" dirty="0" err="1"/>
                  <a:t>xy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সম্বলিত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কোনো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পদ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থাকবেনা</a:t>
                </a:r>
                <a:r>
                  <a:rPr lang="en-US" sz="2400" dirty="0"/>
                  <a:t>।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EC6EC-358D-760F-CF6C-D382727BA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3429000"/>
                <a:ext cx="8915400" cy="2482222"/>
              </a:xfrm>
              <a:blipFill>
                <a:blip r:embed="rId2"/>
                <a:stretch>
                  <a:fillRect l="-1094" t="-1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BE54C-9752-8F51-2452-E4580D662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B80E8-AFA6-BFC1-3F05-198228A58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2E0E91-E09F-941A-5BB8-3F0E713A9199}"/>
                  </a:ext>
                </a:extLst>
              </p:cNvPr>
              <p:cNvSpPr txBox="1"/>
              <p:nvPr/>
            </p:nvSpPr>
            <p:spPr>
              <a:xfrm>
                <a:off x="2589212" y="2482334"/>
                <a:ext cx="41537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2E0E91-E09F-941A-5BB8-3F0E713A9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2482334"/>
                <a:ext cx="4153701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65BCFB2-1F08-2A7B-272C-35C515A0B294}"/>
              </a:ext>
            </a:extLst>
          </p:cNvPr>
          <p:cNvSpPr txBox="1"/>
          <p:nvPr/>
        </p:nvSpPr>
        <p:spPr>
          <a:xfrm>
            <a:off x="2589212" y="1875638"/>
            <a:ext cx="3220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বৃত্তের</a:t>
            </a:r>
            <a:r>
              <a:rPr lang="en-US" sz="2400" dirty="0"/>
              <a:t> </a:t>
            </a:r>
            <a:r>
              <a:rPr lang="en-US" sz="2400" dirty="0" err="1"/>
              <a:t>সাধারণ</a:t>
            </a:r>
            <a:r>
              <a:rPr lang="en-US" sz="2400" dirty="0"/>
              <a:t> </a:t>
            </a:r>
            <a:r>
              <a:rPr lang="en-US" sz="2400" dirty="0" err="1"/>
              <a:t>সমীকরণ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2915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E10DE-4F22-BDCA-3D23-787DCA8E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12777-37D0-C1B6-1122-71B302E3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প্রশ্নোত্তর</a:t>
            </a:r>
            <a:r>
              <a:rPr lang="en-US" dirty="0"/>
              <a:t> </a:t>
            </a:r>
            <a:r>
              <a:rPr lang="en-US" dirty="0" err="1"/>
              <a:t>পর্ব</a:t>
            </a:r>
            <a:r>
              <a:rPr lang="en-US" dirty="0"/>
              <a:t> - ০২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D99BA-0DF3-3849-E36D-F2B1C96D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5152" y="1532999"/>
            <a:ext cx="8915400" cy="3257662"/>
          </a:xfrm>
        </p:spPr>
        <p:txBody>
          <a:bodyPr/>
          <a:lstStyle/>
          <a:p>
            <a:r>
              <a:rPr lang="en-US" sz="2400" dirty="0" err="1"/>
              <a:t>সমীকরণ</a:t>
            </a:r>
            <a:r>
              <a:rPr lang="en-US" sz="2400" dirty="0"/>
              <a:t> </a:t>
            </a:r>
            <a:r>
              <a:rPr lang="en-US" sz="2400" dirty="0" err="1"/>
              <a:t>দেওয়া</a:t>
            </a:r>
            <a:r>
              <a:rPr lang="en-US" sz="2400" dirty="0"/>
              <a:t> </a:t>
            </a:r>
            <a:r>
              <a:rPr lang="en-US" sz="2400" dirty="0" err="1"/>
              <a:t>আছে</a:t>
            </a:r>
            <a:r>
              <a:rPr lang="en-US" sz="2400" dirty="0"/>
              <a:t>, </a:t>
            </a:r>
            <a:r>
              <a:rPr lang="en-US" sz="2400" dirty="0" err="1"/>
              <a:t>বৃত্ত</a:t>
            </a:r>
            <a:r>
              <a:rPr lang="en-US" sz="2400" dirty="0"/>
              <a:t> </a:t>
            </a:r>
            <a:r>
              <a:rPr lang="en-US" sz="2400" dirty="0" err="1"/>
              <a:t>কিনা</a:t>
            </a:r>
            <a:r>
              <a:rPr lang="en-US" sz="2400" dirty="0"/>
              <a:t> </a:t>
            </a:r>
            <a:r>
              <a:rPr lang="en-US" sz="2400" dirty="0" err="1"/>
              <a:t>যাচাই</a:t>
            </a:r>
            <a:r>
              <a:rPr lang="en-US" sz="2400" dirty="0"/>
              <a:t> </a:t>
            </a:r>
            <a:r>
              <a:rPr lang="en-US" sz="2400" dirty="0" err="1"/>
              <a:t>করো</a:t>
            </a:r>
            <a:r>
              <a:rPr lang="en-US" sz="2400" dirty="0"/>
              <a:t>।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9C1F9-E5F4-CADF-8769-3E14D7FFA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A728D-3A66-0E6A-51A7-272B5BE6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F86D6B-45DD-4F2F-B2A2-20C4992B7EF7}"/>
                  </a:ext>
                </a:extLst>
              </p:cNvPr>
              <p:cNvSpPr txBox="1"/>
              <p:nvPr/>
            </p:nvSpPr>
            <p:spPr>
              <a:xfrm>
                <a:off x="2589212" y="2128335"/>
                <a:ext cx="45735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F86D6B-45DD-4F2F-B2A2-20C4992B7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2128335"/>
                <a:ext cx="4573560" cy="461665"/>
              </a:xfrm>
              <a:prstGeom prst="rect">
                <a:avLst/>
              </a:prstGeom>
              <a:blipFill>
                <a:blip r:embed="rId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FBD8D1-BFBC-6947-0D78-8A170FF3C68F}"/>
                  </a:ext>
                </a:extLst>
              </p:cNvPr>
              <p:cNvSpPr txBox="1"/>
              <p:nvPr/>
            </p:nvSpPr>
            <p:spPr>
              <a:xfrm>
                <a:off x="2589212" y="2782264"/>
                <a:ext cx="47434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FBD8D1-BFBC-6947-0D78-8A170FF3C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2782264"/>
                <a:ext cx="4743478" cy="461665"/>
              </a:xfrm>
              <a:prstGeom prst="rect">
                <a:avLst/>
              </a:prstGeom>
              <a:blipFill>
                <a:blip r:embed="rId3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AC95D4-F4CA-8954-5511-B8684AA144DB}"/>
                  </a:ext>
                </a:extLst>
              </p:cNvPr>
              <p:cNvSpPr txBox="1"/>
              <p:nvPr/>
            </p:nvSpPr>
            <p:spPr>
              <a:xfrm>
                <a:off x="2589212" y="3456433"/>
                <a:ext cx="60694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AC95D4-F4CA-8954-5511-B8684AA14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3456433"/>
                <a:ext cx="6069482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C344D5-AE8E-E186-012B-EAE38D12DF4E}"/>
                  </a:ext>
                </a:extLst>
              </p:cNvPr>
              <p:cNvSpPr txBox="1"/>
              <p:nvPr/>
            </p:nvSpPr>
            <p:spPr>
              <a:xfrm>
                <a:off x="2589212" y="4163955"/>
                <a:ext cx="68358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𝑘𝑥𝑦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C344D5-AE8E-E186-012B-EAE38D12D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4163955"/>
                <a:ext cx="6835846" cy="461665"/>
              </a:xfrm>
              <a:prstGeom prst="rect">
                <a:avLst/>
              </a:prstGeom>
              <a:blipFill>
                <a:blip r:embed="rId5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9A32DF-2471-6022-3AE7-0600BD64E067}"/>
                  </a:ext>
                </a:extLst>
              </p:cNvPr>
              <p:cNvSpPr txBox="1"/>
              <p:nvPr/>
            </p:nvSpPr>
            <p:spPr>
              <a:xfrm>
                <a:off x="2589212" y="4871477"/>
                <a:ext cx="40482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9A32DF-2471-6022-3AE7-0600BD64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212" y="4871477"/>
                <a:ext cx="4048288" cy="461665"/>
              </a:xfrm>
              <a:prstGeom prst="rect">
                <a:avLst/>
              </a:prstGeom>
              <a:blipFill>
                <a:blip r:embed="rId6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961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4D874-1E3E-E768-F5AB-1A7F5635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78BD-56C0-F3E7-7D22-1E8A64BD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কিছু</a:t>
            </a:r>
            <a:r>
              <a:rPr lang="en-US" dirty="0"/>
              <a:t> </a:t>
            </a:r>
            <a:r>
              <a:rPr lang="en-US" dirty="0" err="1"/>
              <a:t>বৈশিষ্ট্য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7AE47-DEC4-6CCC-4083-E2824B83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5FF00-C1AC-C642-EC09-C2FB91048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794846-FD46-5AF1-D6F1-DE24BAED1364}"/>
              </a:ext>
            </a:extLst>
          </p:cNvPr>
          <p:cNvSpPr txBox="1"/>
          <p:nvPr/>
        </p:nvSpPr>
        <p:spPr>
          <a:xfrm>
            <a:off x="2160071" y="1417048"/>
            <a:ext cx="3996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1. </a:t>
            </a:r>
            <a:r>
              <a:rPr lang="en-US" sz="2400" dirty="0" err="1"/>
              <a:t>বৃত্ত</a:t>
            </a:r>
            <a:r>
              <a:rPr lang="en-US" sz="2400" dirty="0"/>
              <a:t> </a:t>
            </a:r>
            <a:r>
              <a:rPr lang="en-US" sz="2400" dirty="0" err="1"/>
              <a:t>মুলবিন্দুগামী</a:t>
            </a:r>
            <a:r>
              <a:rPr lang="en-US" sz="2400" dirty="0"/>
              <a:t> (0,0) </a:t>
            </a:r>
            <a:r>
              <a:rPr lang="en-US" sz="2400" dirty="0" err="1"/>
              <a:t>হলে</a:t>
            </a:r>
            <a:endParaRPr lang="en-US" sz="2400" dirty="0"/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D9596122-60F9-C277-AE13-46B989DE1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106" y="3055466"/>
            <a:ext cx="3317938" cy="3317938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756146-0CE0-C496-E353-1390C0C0E0D6}"/>
              </a:ext>
            </a:extLst>
          </p:cNvPr>
          <p:cNvCxnSpPr>
            <a:cxnSpLocks/>
          </p:cNvCxnSpPr>
          <p:nvPr/>
        </p:nvCxnSpPr>
        <p:spPr>
          <a:xfrm>
            <a:off x="2355337" y="5518851"/>
            <a:ext cx="3317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760FC38-AA9F-CF00-CBDF-78C84902A24D}"/>
              </a:ext>
            </a:extLst>
          </p:cNvPr>
          <p:cNvSpPr txBox="1"/>
          <p:nvPr/>
        </p:nvSpPr>
        <p:spPr>
          <a:xfrm>
            <a:off x="2598688" y="4436775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C(-g,-f)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0BFF76-AF4B-5D61-71AA-3AEBF3EEA245}"/>
              </a:ext>
            </a:extLst>
          </p:cNvPr>
          <p:cNvSpPr txBox="1"/>
          <p:nvPr/>
        </p:nvSpPr>
        <p:spPr>
          <a:xfrm>
            <a:off x="4404308" y="4529769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D5224F-83F7-5238-C1E3-ABE92F610E01}"/>
              </a:ext>
            </a:extLst>
          </p:cNvPr>
          <p:cNvSpPr txBox="1"/>
          <p:nvPr/>
        </p:nvSpPr>
        <p:spPr>
          <a:xfrm>
            <a:off x="1851333" y="551885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124C086-E676-1B66-7DD9-0079CBE1DE65}"/>
              </a:ext>
            </a:extLst>
          </p:cNvPr>
          <p:cNvCxnSpPr>
            <a:cxnSpLocks/>
          </p:cNvCxnSpPr>
          <p:nvPr/>
        </p:nvCxnSpPr>
        <p:spPr>
          <a:xfrm>
            <a:off x="3178852" y="4806107"/>
            <a:ext cx="11147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9F0F3B4-A712-D56D-6A0F-85C5C3B0F906}"/>
                  </a:ext>
                </a:extLst>
              </p:cNvPr>
              <p:cNvSpPr txBox="1"/>
              <p:nvPr/>
            </p:nvSpPr>
            <p:spPr>
              <a:xfrm>
                <a:off x="3520280" y="4441726"/>
                <a:ext cx="212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9F0F3B4-A712-D56D-6A0F-85C5C3B0F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280" y="4441726"/>
                <a:ext cx="212789" cy="369332"/>
              </a:xfrm>
              <a:prstGeom prst="rect">
                <a:avLst/>
              </a:prstGeom>
              <a:blipFill>
                <a:blip r:embed="rId3"/>
                <a:stretch>
                  <a:fillRect r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8F7F1636-11E4-3807-3DD9-14DFB9914E79}"/>
              </a:ext>
            </a:extLst>
          </p:cNvPr>
          <p:cNvSpPr/>
          <p:nvPr/>
        </p:nvSpPr>
        <p:spPr>
          <a:xfrm>
            <a:off x="3165887" y="478324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49B5CF-877A-14EF-9877-C1DA59C2CE1F}"/>
              </a:ext>
            </a:extLst>
          </p:cNvPr>
          <p:cNvSpPr txBox="1"/>
          <p:nvPr/>
        </p:nvSpPr>
        <p:spPr>
          <a:xfrm>
            <a:off x="5606033" y="5336116"/>
            <a:ext cx="26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02EEE7-E89A-DD4A-9CC4-C7F4DBEB68C4}"/>
              </a:ext>
            </a:extLst>
          </p:cNvPr>
          <p:cNvSpPr txBox="1"/>
          <p:nvPr/>
        </p:nvSpPr>
        <p:spPr>
          <a:xfrm>
            <a:off x="2057814" y="2509169"/>
            <a:ext cx="26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5C6450-05CF-4DAA-D4C7-DB65F58CE4CB}"/>
              </a:ext>
            </a:extLst>
          </p:cNvPr>
          <p:cNvCxnSpPr>
            <a:cxnSpLocks/>
          </p:cNvCxnSpPr>
          <p:nvPr/>
        </p:nvCxnSpPr>
        <p:spPr>
          <a:xfrm flipV="1">
            <a:off x="2358634" y="2200913"/>
            <a:ext cx="0" cy="3317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F88321-8E68-0977-8ED5-3F4D0FB578ED}"/>
                  </a:ext>
                </a:extLst>
              </p:cNvPr>
              <p:cNvSpPr txBox="1"/>
              <p:nvPr/>
            </p:nvSpPr>
            <p:spPr>
              <a:xfrm>
                <a:off x="6302652" y="2647668"/>
                <a:ext cx="415370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F88321-8E68-0977-8ED5-3F4D0FB57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652" y="2647668"/>
                <a:ext cx="4153701" cy="461665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CF6CE4-C51F-0AE9-6328-262AAB31EBF4}"/>
                  </a:ext>
                </a:extLst>
              </p:cNvPr>
              <p:cNvSpPr txBox="1"/>
              <p:nvPr/>
            </p:nvSpPr>
            <p:spPr>
              <a:xfrm>
                <a:off x="6242963" y="4091287"/>
                <a:ext cx="470308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CF6CE4-C51F-0AE9-6328-262AAB31E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2963" y="4091287"/>
                <a:ext cx="4703082" cy="461665"/>
              </a:xfrm>
              <a:prstGeom prst="rect">
                <a:avLst/>
              </a:prstGeom>
              <a:blipFill>
                <a:blip r:embed="rId5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4A6544-8ADD-E52B-FD41-EF1ACC928BDD}"/>
                  </a:ext>
                </a:extLst>
              </p:cNvPr>
              <p:cNvSpPr txBox="1"/>
              <p:nvPr/>
            </p:nvSpPr>
            <p:spPr>
              <a:xfrm>
                <a:off x="6265311" y="3358637"/>
                <a:ext cx="3391249" cy="513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বসিয়ে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পাই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4A6544-8ADD-E52B-FD41-EF1ACC928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311" y="3358637"/>
                <a:ext cx="3391249" cy="5134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CE1119-2C98-CDC2-ABE9-F3296EA8F8E9}"/>
                  </a:ext>
                </a:extLst>
              </p:cNvPr>
              <p:cNvSpPr txBox="1"/>
              <p:nvPr/>
            </p:nvSpPr>
            <p:spPr>
              <a:xfrm>
                <a:off x="6302652" y="4720035"/>
                <a:ext cx="9905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CE1119-2C98-CDC2-ABE9-F3296EA8F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2652" y="4720035"/>
                <a:ext cx="99052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240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79E3-B67A-EAF1-6D1D-9D334834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9C68-8AD8-05DC-FB34-B77B2CEC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কিছু</a:t>
            </a:r>
            <a:r>
              <a:rPr lang="en-US" dirty="0"/>
              <a:t> </a:t>
            </a:r>
            <a:r>
              <a:rPr lang="en-US" dirty="0" err="1"/>
              <a:t>বৈশিষ্ট্য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02585-BBEF-257C-F0EF-0763068A1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61210-22E9-44FD-A648-8D2122B70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1012" y="5994507"/>
            <a:ext cx="7619999" cy="365125"/>
          </a:xfrm>
        </p:spPr>
        <p:txBody>
          <a:bodyPr/>
          <a:lstStyle/>
          <a:p>
            <a:r>
              <a:rPr lang="en-US" dirty="0"/>
              <a:t>Presented By Doniel Tripura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EEBF17-FD36-5C27-DE9D-FC0EDB44B009}"/>
              </a:ext>
            </a:extLst>
          </p:cNvPr>
          <p:cNvSpPr txBox="1"/>
          <p:nvPr/>
        </p:nvSpPr>
        <p:spPr>
          <a:xfrm>
            <a:off x="2105270" y="1426069"/>
            <a:ext cx="5040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2. </a:t>
            </a:r>
            <a:r>
              <a:rPr lang="en-US" sz="2400" dirty="0" err="1"/>
              <a:t>বৃত্ত</a:t>
            </a:r>
            <a:r>
              <a:rPr lang="en-US" sz="2400" dirty="0"/>
              <a:t> X </a:t>
            </a:r>
            <a:r>
              <a:rPr lang="en-US" sz="2400" dirty="0" err="1"/>
              <a:t>অথবা</a:t>
            </a:r>
            <a:r>
              <a:rPr lang="en-US" sz="2400" dirty="0"/>
              <a:t> Y </a:t>
            </a:r>
            <a:r>
              <a:rPr lang="en-US" sz="2400" dirty="0" err="1"/>
              <a:t>অক্ষকে</a:t>
            </a:r>
            <a:r>
              <a:rPr lang="en-US" sz="2400" dirty="0"/>
              <a:t> </a:t>
            </a:r>
            <a:r>
              <a:rPr lang="en-US" sz="2400" dirty="0" err="1"/>
              <a:t>ছেদ</a:t>
            </a:r>
            <a:r>
              <a:rPr lang="en-US" sz="2400" dirty="0"/>
              <a:t> </a:t>
            </a:r>
            <a:r>
              <a:rPr lang="en-US" sz="2400" dirty="0" err="1"/>
              <a:t>করলে</a:t>
            </a:r>
            <a:r>
              <a:rPr lang="en-US" sz="2400" dirty="0"/>
              <a:t>,</a:t>
            </a:r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B864F0E1-4CEB-4F34-20C4-E73FE62EC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712" y="2919765"/>
            <a:ext cx="3317938" cy="3317938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B3D2149-01F7-694F-BBC1-90962B1223F3}"/>
              </a:ext>
            </a:extLst>
          </p:cNvPr>
          <p:cNvCxnSpPr>
            <a:cxnSpLocks/>
          </p:cNvCxnSpPr>
          <p:nvPr/>
        </p:nvCxnSpPr>
        <p:spPr>
          <a:xfrm>
            <a:off x="2327137" y="5377550"/>
            <a:ext cx="3317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49F4C8A-4115-2E44-1850-DD874417609D}"/>
              </a:ext>
            </a:extLst>
          </p:cNvPr>
          <p:cNvSpPr txBox="1"/>
          <p:nvPr/>
        </p:nvSpPr>
        <p:spPr>
          <a:xfrm>
            <a:off x="3232294" y="4301074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C(-g,-f)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30645E-4CDC-8533-71F1-9134158CDB91}"/>
              </a:ext>
            </a:extLst>
          </p:cNvPr>
          <p:cNvSpPr txBox="1"/>
          <p:nvPr/>
        </p:nvSpPr>
        <p:spPr>
          <a:xfrm>
            <a:off x="2472262" y="5365240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4D2B91-F43A-7355-B350-3C0717EA3D83}"/>
              </a:ext>
            </a:extLst>
          </p:cNvPr>
          <p:cNvSpPr txBox="1"/>
          <p:nvPr/>
        </p:nvSpPr>
        <p:spPr>
          <a:xfrm>
            <a:off x="1704104" y="5377550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O(0,0)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10DF2DC-4D2D-A4B2-3070-F9E69A4E54A3}"/>
                  </a:ext>
                </a:extLst>
              </p:cNvPr>
              <p:cNvSpPr txBox="1"/>
              <p:nvPr/>
            </p:nvSpPr>
            <p:spPr>
              <a:xfrm>
                <a:off x="4153886" y="4306025"/>
                <a:ext cx="212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10DF2DC-4D2D-A4B2-3070-F9E69A4E5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886" y="4306025"/>
                <a:ext cx="212789" cy="369332"/>
              </a:xfrm>
              <a:prstGeom prst="rect">
                <a:avLst/>
              </a:prstGeom>
              <a:blipFill>
                <a:blip r:embed="rId3"/>
                <a:stretch>
                  <a:fillRect r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B189BB85-6305-ED41-E5DE-DB391E79E635}"/>
              </a:ext>
            </a:extLst>
          </p:cNvPr>
          <p:cNvSpPr/>
          <p:nvPr/>
        </p:nvSpPr>
        <p:spPr>
          <a:xfrm>
            <a:off x="3799493" y="4647546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0F8D79-0A4C-6778-FDF3-B04102031D19}"/>
              </a:ext>
            </a:extLst>
          </p:cNvPr>
          <p:cNvSpPr txBox="1"/>
          <p:nvPr/>
        </p:nvSpPr>
        <p:spPr>
          <a:xfrm>
            <a:off x="5577833" y="5194815"/>
            <a:ext cx="26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630F54-D2E4-1749-083F-A1C3CCC5ED03}"/>
              </a:ext>
            </a:extLst>
          </p:cNvPr>
          <p:cNvSpPr txBox="1"/>
          <p:nvPr/>
        </p:nvSpPr>
        <p:spPr>
          <a:xfrm>
            <a:off x="2029614" y="2367868"/>
            <a:ext cx="26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39BB4AA-6896-C76C-2429-DF02EBFBA892}"/>
              </a:ext>
            </a:extLst>
          </p:cNvPr>
          <p:cNvCxnSpPr>
            <a:cxnSpLocks/>
          </p:cNvCxnSpPr>
          <p:nvPr/>
        </p:nvCxnSpPr>
        <p:spPr>
          <a:xfrm flipV="1">
            <a:off x="2330434" y="2059612"/>
            <a:ext cx="0" cy="3317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934B20-5B88-5238-21BA-29E1A5E0DB0A}"/>
                  </a:ext>
                </a:extLst>
              </p:cNvPr>
              <p:cNvSpPr txBox="1"/>
              <p:nvPr/>
            </p:nvSpPr>
            <p:spPr>
              <a:xfrm>
                <a:off x="6226880" y="2380194"/>
                <a:ext cx="2756011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934B20-5B88-5238-21BA-29E1A5E0D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880" y="2380194"/>
                <a:ext cx="2756011" cy="5395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2F071A-EC52-3966-4D43-91ABC23D38D3}"/>
                  </a:ext>
                </a:extLst>
              </p:cNvPr>
              <p:cNvSpPr txBox="1"/>
              <p:nvPr/>
            </p:nvSpPr>
            <p:spPr>
              <a:xfrm>
                <a:off x="6067800" y="2876814"/>
                <a:ext cx="3664786" cy="9030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প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িথাগোরাসের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সুত্রানুযায়ী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2F071A-EC52-3966-4D43-91ABC23D3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7800" y="2876814"/>
                <a:ext cx="3664786" cy="9030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44A9E5-0113-ECF9-2B0E-11FAC6BB14A7}"/>
                  </a:ext>
                </a:extLst>
              </p:cNvPr>
              <p:cNvSpPr txBox="1"/>
              <p:nvPr/>
            </p:nvSpPr>
            <p:spPr>
              <a:xfrm>
                <a:off x="6199895" y="1862881"/>
                <a:ext cx="4161717" cy="5134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চিত্র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থেকে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পাই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CD=-f, AD=?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44A9E5-0113-ECF9-2B0E-11FAC6BB1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895" y="1862881"/>
                <a:ext cx="4161717" cy="513410"/>
              </a:xfrm>
              <a:prstGeom prst="rect">
                <a:avLst/>
              </a:prstGeom>
              <a:blipFill>
                <a:blip r:embed="rId6"/>
                <a:stretch>
                  <a:fillRect r="-1318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D6D884-A9CC-516E-BCC7-62E99027A097}"/>
                  </a:ext>
                </a:extLst>
              </p:cNvPr>
              <p:cNvSpPr txBox="1"/>
              <p:nvPr/>
            </p:nvSpPr>
            <p:spPr>
              <a:xfrm>
                <a:off x="6514467" y="3748513"/>
                <a:ext cx="27055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D6D884-A9CC-516E-BCC7-62E99027A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467" y="3748513"/>
                <a:ext cx="270554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ABF406-BA02-D80D-F820-1B29B8FA8A7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2995416" y="4670406"/>
            <a:ext cx="804077" cy="707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7718E1-1B9F-8FE4-11B7-883C48E32866}"/>
              </a:ext>
            </a:extLst>
          </p:cNvPr>
          <p:cNvCxnSpPr>
            <a:cxnSpLocks/>
          </p:cNvCxnSpPr>
          <p:nvPr/>
        </p:nvCxnSpPr>
        <p:spPr>
          <a:xfrm>
            <a:off x="3822353" y="4704694"/>
            <a:ext cx="7335" cy="672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F4BD28-7E78-B001-A5D9-D762C6B2F037}"/>
              </a:ext>
            </a:extLst>
          </p:cNvPr>
          <p:cNvCxnSpPr>
            <a:cxnSpLocks/>
          </p:cNvCxnSpPr>
          <p:nvPr/>
        </p:nvCxnSpPr>
        <p:spPr>
          <a:xfrm>
            <a:off x="3656171" y="5225085"/>
            <a:ext cx="0" cy="152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C31BA4E-422E-453A-023F-51815FF4BA7F}"/>
              </a:ext>
            </a:extLst>
          </p:cNvPr>
          <p:cNvCxnSpPr>
            <a:cxnSpLocks/>
          </p:cNvCxnSpPr>
          <p:nvPr/>
        </p:nvCxnSpPr>
        <p:spPr>
          <a:xfrm>
            <a:off x="3656171" y="5221275"/>
            <a:ext cx="1661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8A5C7B3-923A-C7D9-83EA-F6EAFF0D5011}"/>
              </a:ext>
            </a:extLst>
          </p:cNvPr>
          <p:cNvSpPr txBox="1"/>
          <p:nvPr/>
        </p:nvSpPr>
        <p:spPr>
          <a:xfrm>
            <a:off x="4548275" y="5355964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32CF8D-75E0-0836-ECFF-1266A78EA391}"/>
              </a:ext>
            </a:extLst>
          </p:cNvPr>
          <p:cNvSpPr txBox="1"/>
          <p:nvPr/>
        </p:nvSpPr>
        <p:spPr>
          <a:xfrm>
            <a:off x="3699001" y="5355964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BC6BEE-3E80-F1CD-2F0D-DB1010C27457}"/>
                  </a:ext>
                </a:extLst>
              </p:cNvPr>
              <p:cNvSpPr txBox="1"/>
              <p:nvPr/>
            </p:nvSpPr>
            <p:spPr>
              <a:xfrm>
                <a:off x="6485840" y="4033615"/>
                <a:ext cx="4153188" cy="718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𝑔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5BC6BEE-3E80-F1CD-2F0D-DB1010C27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840" y="4033615"/>
                <a:ext cx="4153188" cy="7180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1DA1088-E0BE-4E23-03A4-4ED88D93BE6F}"/>
                  </a:ext>
                </a:extLst>
              </p:cNvPr>
              <p:cNvSpPr txBox="1"/>
              <p:nvPr/>
            </p:nvSpPr>
            <p:spPr>
              <a:xfrm>
                <a:off x="6458443" y="4717208"/>
                <a:ext cx="34802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1DA1088-E0BE-4E23-03A4-4ED88D93B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443" y="4717208"/>
                <a:ext cx="3480248" cy="461665"/>
              </a:xfrm>
              <a:prstGeom prst="rect">
                <a:avLst/>
              </a:prstGeom>
              <a:blipFill>
                <a:blip r:embed="rId9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27767AA-70C3-55B6-A89E-C71DA7D51A27}"/>
                  </a:ext>
                </a:extLst>
              </p:cNvPr>
              <p:cNvSpPr txBox="1"/>
              <p:nvPr/>
            </p:nvSpPr>
            <p:spPr>
              <a:xfrm>
                <a:off x="6514467" y="5086178"/>
                <a:ext cx="2083006" cy="539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27767AA-70C3-55B6-A89E-C71DA7D51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467" y="5086178"/>
                <a:ext cx="2083006" cy="5395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531A2A49-0C10-9F09-A882-362BEB81ADEC}"/>
              </a:ext>
            </a:extLst>
          </p:cNvPr>
          <p:cNvSpPr txBox="1"/>
          <p:nvPr/>
        </p:nvSpPr>
        <p:spPr>
          <a:xfrm>
            <a:off x="2016682" y="5834455"/>
            <a:ext cx="30107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বৃত্ত</a:t>
            </a:r>
            <a:r>
              <a:rPr lang="en-US" sz="2000" dirty="0"/>
              <a:t> X </a:t>
            </a:r>
            <a:r>
              <a:rPr lang="en-US" sz="2000" dirty="0" err="1"/>
              <a:t>অক্ষকে</a:t>
            </a:r>
            <a:r>
              <a:rPr lang="en-US" sz="2000" dirty="0"/>
              <a:t> </a:t>
            </a:r>
            <a:r>
              <a:rPr lang="en-US" sz="2000" dirty="0" err="1"/>
              <a:t>ছেদ</a:t>
            </a:r>
            <a:r>
              <a:rPr lang="en-US" sz="2000" dirty="0"/>
              <a:t> </a:t>
            </a:r>
            <a:r>
              <a:rPr lang="en-US" sz="2000" dirty="0" err="1"/>
              <a:t>করলে</a:t>
            </a:r>
            <a:r>
              <a:rPr lang="en-US" sz="2000" dirty="0"/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AA666ED-5C4E-C29C-EE37-157CE4098DDA}"/>
                  </a:ext>
                </a:extLst>
              </p:cNvPr>
              <p:cNvSpPr txBox="1"/>
              <p:nvPr/>
            </p:nvSpPr>
            <p:spPr>
              <a:xfrm>
                <a:off x="5172267" y="5813458"/>
                <a:ext cx="2377317" cy="465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0" dirty="0"/>
                  <a:t>জ্যা 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AA666ED-5C4E-C29C-EE37-157CE4098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267" y="5813458"/>
                <a:ext cx="2377317" cy="465064"/>
              </a:xfrm>
              <a:prstGeom prst="rect">
                <a:avLst/>
              </a:prstGeom>
              <a:blipFill>
                <a:blip r:embed="rId11"/>
                <a:stretch>
                  <a:fillRect l="-2564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0459A4F3-1DD5-ACD3-D705-ABC71890EFDC}"/>
              </a:ext>
            </a:extLst>
          </p:cNvPr>
          <p:cNvSpPr txBox="1"/>
          <p:nvPr/>
        </p:nvSpPr>
        <p:spPr>
          <a:xfrm>
            <a:off x="2016682" y="6243853"/>
            <a:ext cx="3007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বৃত্ত</a:t>
            </a:r>
            <a:r>
              <a:rPr lang="en-US" sz="2000" dirty="0"/>
              <a:t> Y </a:t>
            </a:r>
            <a:r>
              <a:rPr lang="en-US" sz="2000" dirty="0" err="1"/>
              <a:t>অক্ষকে</a:t>
            </a:r>
            <a:r>
              <a:rPr lang="en-US" sz="2000" dirty="0"/>
              <a:t> </a:t>
            </a:r>
            <a:r>
              <a:rPr lang="en-US" sz="2000" dirty="0" err="1"/>
              <a:t>ছেদ</a:t>
            </a:r>
            <a:r>
              <a:rPr lang="en-US" sz="2000" dirty="0"/>
              <a:t> </a:t>
            </a:r>
            <a:r>
              <a:rPr lang="en-US" sz="2000" dirty="0" err="1"/>
              <a:t>করলে</a:t>
            </a:r>
            <a:r>
              <a:rPr lang="en-US" sz="2000" dirty="0"/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23C15AE-B5DD-F60C-815F-5331DA96DFCE}"/>
                  </a:ext>
                </a:extLst>
              </p:cNvPr>
              <p:cNvSpPr txBox="1"/>
              <p:nvPr/>
            </p:nvSpPr>
            <p:spPr>
              <a:xfrm>
                <a:off x="5184724" y="6254482"/>
                <a:ext cx="2372573" cy="465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0" dirty="0"/>
                  <a:t>জ্যা 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23C15AE-B5DD-F60C-815F-5331DA96D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724" y="6254482"/>
                <a:ext cx="2372573" cy="465064"/>
              </a:xfrm>
              <a:prstGeom prst="rect">
                <a:avLst/>
              </a:prstGeom>
              <a:blipFill>
                <a:blip r:embed="rId12"/>
                <a:stretch>
                  <a:fillRect l="-2828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8962C00-1F9C-2C74-BA03-6A240A75669B}"/>
                  </a:ext>
                </a:extLst>
              </p14:cNvPr>
              <p14:cNvContentPartPr/>
              <p14:nvPr/>
            </p14:nvContentPartPr>
            <p14:xfrm>
              <a:off x="7196256" y="3821832"/>
              <a:ext cx="62280" cy="471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8962C00-1F9C-2C74-BA03-6A240A75669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87616" y="3813192"/>
                <a:ext cx="79920" cy="6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4319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7A2F-A32D-6913-8ED4-C6C82A030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কিছু</a:t>
            </a:r>
            <a:r>
              <a:rPr lang="en-US" dirty="0"/>
              <a:t> </a:t>
            </a:r>
            <a:r>
              <a:rPr lang="en-US" dirty="0" err="1"/>
              <a:t>বৈশিষ্ট্য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701A9-A9B3-4054-511D-ABD74A1C3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054C7-75F2-3423-87C0-D94FCF1CE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7F439DBF-6260-3A29-FE4F-27D35168A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130" y="2448126"/>
            <a:ext cx="3317938" cy="331793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C46092-D674-F912-0C4F-F6358E632200}"/>
              </a:ext>
            </a:extLst>
          </p:cNvPr>
          <p:cNvCxnSpPr>
            <a:cxnSpLocks/>
          </p:cNvCxnSpPr>
          <p:nvPr/>
        </p:nvCxnSpPr>
        <p:spPr>
          <a:xfrm>
            <a:off x="1212337" y="5273142"/>
            <a:ext cx="3317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81CB88-7044-A772-BA9B-66C9A23889D7}"/>
              </a:ext>
            </a:extLst>
          </p:cNvPr>
          <p:cNvCxnSpPr>
            <a:cxnSpLocks/>
          </p:cNvCxnSpPr>
          <p:nvPr/>
        </p:nvCxnSpPr>
        <p:spPr>
          <a:xfrm flipV="1">
            <a:off x="1212337" y="1945901"/>
            <a:ext cx="0" cy="3317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46F949-1BE1-42F7-64D5-1E2C569318C6}"/>
              </a:ext>
            </a:extLst>
          </p:cNvPr>
          <p:cNvSpPr txBox="1"/>
          <p:nvPr/>
        </p:nvSpPr>
        <p:spPr>
          <a:xfrm>
            <a:off x="2282712" y="3829435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C(-g,-f)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B4EDA7-71FB-7C80-F285-FDFCF5A94F55}"/>
              </a:ext>
            </a:extLst>
          </p:cNvPr>
          <p:cNvSpPr txBox="1"/>
          <p:nvPr/>
        </p:nvSpPr>
        <p:spPr>
          <a:xfrm>
            <a:off x="4088332" y="3922429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E6FC6-0BFF-F0EF-B2CA-5EE6B08BF92F}"/>
              </a:ext>
            </a:extLst>
          </p:cNvPr>
          <p:cNvSpPr txBox="1"/>
          <p:nvPr/>
        </p:nvSpPr>
        <p:spPr>
          <a:xfrm>
            <a:off x="1116992" y="527314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263D02-202A-CA68-391A-3D4E1AD399C5}"/>
              </a:ext>
            </a:extLst>
          </p:cNvPr>
          <p:cNvCxnSpPr>
            <a:cxnSpLocks/>
          </p:cNvCxnSpPr>
          <p:nvPr/>
        </p:nvCxnSpPr>
        <p:spPr>
          <a:xfrm>
            <a:off x="2862876" y="4198767"/>
            <a:ext cx="11147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EB68C3-3815-D1FB-16B4-BCCA695F3E4E}"/>
                  </a:ext>
                </a:extLst>
              </p:cNvPr>
              <p:cNvSpPr txBox="1"/>
              <p:nvPr/>
            </p:nvSpPr>
            <p:spPr>
              <a:xfrm>
                <a:off x="3204304" y="3834386"/>
                <a:ext cx="212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7EB68C3-3815-D1FB-16B4-BCCA695F3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304" y="3834386"/>
                <a:ext cx="212789" cy="369332"/>
              </a:xfrm>
              <a:prstGeom prst="rect">
                <a:avLst/>
              </a:prstGeom>
              <a:blipFill>
                <a:blip r:embed="rId3"/>
                <a:stretch>
                  <a:fillRect r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E03D4751-F048-7AB3-EBB2-E776D9F12F45}"/>
              </a:ext>
            </a:extLst>
          </p:cNvPr>
          <p:cNvSpPr/>
          <p:nvPr/>
        </p:nvSpPr>
        <p:spPr>
          <a:xfrm>
            <a:off x="2849911" y="417590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373208-5F8F-AB02-65AA-E3CC0874A4A7}"/>
                  </a:ext>
                </a:extLst>
              </p:cNvPr>
              <p:cNvSpPr txBox="1"/>
              <p:nvPr/>
            </p:nvSpPr>
            <p:spPr>
              <a:xfrm>
                <a:off x="4612166" y="3043616"/>
                <a:ext cx="11560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373208-5F8F-AB02-65AA-E3CC0874A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166" y="3043616"/>
                <a:ext cx="1156022" cy="461665"/>
              </a:xfrm>
              <a:prstGeom prst="rect">
                <a:avLst/>
              </a:prstGeom>
              <a:blipFill>
                <a:blip r:embed="rId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C57AD613-D862-3C7D-92B5-EBCEAE76B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914" y="2170466"/>
            <a:ext cx="3317938" cy="3317938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4FCE60-1061-E188-32BE-2A7E1039E783}"/>
              </a:ext>
            </a:extLst>
          </p:cNvPr>
          <p:cNvCxnSpPr>
            <a:cxnSpLocks/>
          </p:cNvCxnSpPr>
          <p:nvPr/>
        </p:nvCxnSpPr>
        <p:spPr>
          <a:xfrm>
            <a:off x="6388432" y="5273142"/>
            <a:ext cx="3317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9FC974-3971-19EF-C828-F6DF09BD4DD3}"/>
              </a:ext>
            </a:extLst>
          </p:cNvPr>
          <p:cNvCxnSpPr>
            <a:cxnSpLocks/>
          </p:cNvCxnSpPr>
          <p:nvPr/>
        </p:nvCxnSpPr>
        <p:spPr>
          <a:xfrm flipV="1">
            <a:off x="6388432" y="1945901"/>
            <a:ext cx="0" cy="3317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E94A79D-46D3-6E90-487F-3C796467060F}"/>
              </a:ext>
            </a:extLst>
          </p:cNvPr>
          <p:cNvSpPr txBox="1"/>
          <p:nvPr/>
        </p:nvSpPr>
        <p:spPr>
          <a:xfrm>
            <a:off x="6976016" y="3560402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C(-g,-f)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16AE98-AF86-1116-2257-612C15C7DC1C}"/>
              </a:ext>
            </a:extLst>
          </p:cNvPr>
          <p:cNvSpPr txBox="1"/>
          <p:nvPr/>
        </p:nvSpPr>
        <p:spPr>
          <a:xfrm>
            <a:off x="8781636" y="3653396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EBDDDC-1F0C-3AEF-C72A-1F8C1A858D95}"/>
              </a:ext>
            </a:extLst>
          </p:cNvPr>
          <p:cNvSpPr txBox="1"/>
          <p:nvPr/>
        </p:nvSpPr>
        <p:spPr>
          <a:xfrm>
            <a:off x="6293087" y="527314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D6A935E-611A-73E1-42C4-666FAFB08BB1}"/>
              </a:ext>
            </a:extLst>
          </p:cNvPr>
          <p:cNvCxnSpPr>
            <a:cxnSpLocks/>
          </p:cNvCxnSpPr>
          <p:nvPr/>
        </p:nvCxnSpPr>
        <p:spPr>
          <a:xfrm>
            <a:off x="7556180" y="3929734"/>
            <a:ext cx="11147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7178953-7F12-28CF-08C2-8B7148CF40F9}"/>
                  </a:ext>
                </a:extLst>
              </p:cNvPr>
              <p:cNvSpPr txBox="1"/>
              <p:nvPr/>
            </p:nvSpPr>
            <p:spPr>
              <a:xfrm>
                <a:off x="7897608" y="3565353"/>
                <a:ext cx="212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7178953-7F12-28CF-08C2-8B7148CF4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608" y="3565353"/>
                <a:ext cx="212789" cy="369332"/>
              </a:xfrm>
              <a:prstGeom prst="rect">
                <a:avLst/>
              </a:prstGeom>
              <a:blipFill>
                <a:blip r:embed="rId5"/>
                <a:stretch>
                  <a:fillRect r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D64C049D-8282-39CC-DF92-A6191CA10F1A}"/>
              </a:ext>
            </a:extLst>
          </p:cNvPr>
          <p:cNvSpPr/>
          <p:nvPr/>
        </p:nvSpPr>
        <p:spPr>
          <a:xfrm>
            <a:off x="7561807" y="3916177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93CC78A-0632-A8A5-27B0-934BFE8B9357}"/>
                  </a:ext>
                </a:extLst>
              </p:cNvPr>
              <p:cNvSpPr txBox="1"/>
              <p:nvPr/>
            </p:nvSpPr>
            <p:spPr>
              <a:xfrm>
                <a:off x="9352425" y="3043615"/>
                <a:ext cx="11519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93CC78A-0632-A8A5-27B0-934BFE8B9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425" y="3043615"/>
                <a:ext cx="1151918" cy="461665"/>
              </a:xfrm>
              <a:prstGeom prst="rect">
                <a:avLst/>
              </a:prstGeom>
              <a:blipFill>
                <a:blip r:embed="rId6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58B0613-3A7A-4163-0E82-A3CBF904E1FA}"/>
              </a:ext>
            </a:extLst>
          </p:cNvPr>
          <p:cNvSpPr txBox="1"/>
          <p:nvPr/>
        </p:nvSpPr>
        <p:spPr>
          <a:xfrm>
            <a:off x="2133470" y="1567370"/>
            <a:ext cx="5035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3. </a:t>
            </a:r>
            <a:r>
              <a:rPr lang="en-US" sz="2400" dirty="0" err="1"/>
              <a:t>বৃত্ত</a:t>
            </a:r>
            <a:r>
              <a:rPr lang="en-US" sz="2400" dirty="0"/>
              <a:t> X </a:t>
            </a:r>
            <a:r>
              <a:rPr lang="en-US" sz="2400" dirty="0" err="1"/>
              <a:t>অথবা</a:t>
            </a:r>
            <a:r>
              <a:rPr lang="en-US" sz="2400" dirty="0"/>
              <a:t> Y </a:t>
            </a:r>
            <a:r>
              <a:rPr lang="en-US" sz="2400" dirty="0" err="1"/>
              <a:t>অক্ষকে</a:t>
            </a:r>
            <a:r>
              <a:rPr lang="en-US" sz="2400" dirty="0"/>
              <a:t> </a:t>
            </a:r>
            <a:r>
              <a:rPr lang="en-US" sz="2400" dirty="0" err="1"/>
              <a:t>স্পর্শ</a:t>
            </a:r>
            <a:r>
              <a:rPr lang="en-US" sz="2400" dirty="0"/>
              <a:t> </a:t>
            </a:r>
            <a:r>
              <a:rPr lang="en-US" sz="2400" dirty="0" err="1"/>
              <a:t>করলে</a:t>
            </a:r>
            <a:endParaRPr 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76E5B6-470B-578E-BF1F-A99A7C8490C6}"/>
              </a:ext>
            </a:extLst>
          </p:cNvPr>
          <p:cNvSpPr txBox="1"/>
          <p:nvPr/>
        </p:nvSpPr>
        <p:spPr>
          <a:xfrm>
            <a:off x="4463033" y="5090407"/>
            <a:ext cx="26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97BE6E-5F65-615C-30D5-91BD882106F1}"/>
              </a:ext>
            </a:extLst>
          </p:cNvPr>
          <p:cNvSpPr txBox="1"/>
          <p:nvPr/>
        </p:nvSpPr>
        <p:spPr>
          <a:xfrm>
            <a:off x="9706370" y="5079173"/>
            <a:ext cx="26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E8839D-737E-0452-91A6-2DF60C83D1B0}"/>
              </a:ext>
            </a:extLst>
          </p:cNvPr>
          <p:cNvSpPr txBox="1"/>
          <p:nvPr/>
        </p:nvSpPr>
        <p:spPr>
          <a:xfrm>
            <a:off x="6136704" y="2321127"/>
            <a:ext cx="26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0F5A75-4FCB-A8F1-2319-61ED4C8DCE76}"/>
              </a:ext>
            </a:extLst>
          </p:cNvPr>
          <p:cNvSpPr txBox="1"/>
          <p:nvPr/>
        </p:nvSpPr>
        <p:spPr>
          <a:xfrm>
            <a:off x="914814" y="2263460"/>
            <a:ext cx="26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737EEA6-7372-D2A7-8A55-6646D679A5C9}"/>
                  </a:ext>
                </a:extLst>
              </p:cNvPr>
              <p:cNvSpPr txBox="1"/>
              <p:nvPr/>
            </p:nvSpPr>
            <p:spPr>
              <a:xfrm>
                <a:off x="2012741" y="2296822"/>
                <a:ext cx="6097656" cy="53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737EEA6-7372-D2A7-8A55-6646D679A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741" y="2296822"/>
                <a:ext cx="6097656" cy="5395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E3FC8E0-E442-3BC4-3D71-030FA205585E}"/>
                  </a:ext>
                </a:extLst>
              </p:cNvPr>
              <p:cNvSpPr txBox="1"/>
              <p:nvPr/>
            </p:nvSpPr>
            <p:spPr>
              <a:xfrm>
                <a:off x="6888729" y="2290500"/>
                <a:ext cx="6097656" cy="53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E3FC8E0-E442-3BC4-3D71-030FA2055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729" y="2290500"/>
                <a:ext cx="6097656" cy="5395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6515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F461A-40D9-C84A-1D06-8F7E5C03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D7B3B-D04E-6803-A179-BECF18DB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কিছু</a:t>
            </a:r>
            <a:r>
              <a:rPr lang="en-US" dirty="0"/>
              <a:t> </a:t>
            </a:r>
            <a:r>
              <a:rPr lang="en-US" dirty="0" err="1"/>
              <a:t>বৈশিষ্ট্য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247F3-AFAC-5AB0-71FA-F1B2DEBB3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C8A70-5EBA-7EBB-FA2B-FF13A063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186584-E594-1581-822E-A4E1C0B27B40}"/>
              </a:ext>
            </a:extLst>
          </p:cNvPr>
          <p:cNvSpPr txBox="1"/>
          <p:nvPr/>
        </p:nvSpPr>
        <p:spPr>
          <a:xfrm>
            <a:off x="2133470" y="1567370"/>
            <a:ext cx="4826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4. </a:t>
            </a:r>
            <a:r>
              <a:rPr lang="en-US" sz="2400" dirty="0" err="1"/>
              <a:t>বৃত্ত</a:t>
            </a:r>
            <a:r>
              <a:rPr lang="en-US" sz="2400" dirty="0"/>
              <a:t> X </a:t>
            </a:r>
            <a:r>
              <a:rPr lang="en-US" sz="2400" dirty="0" err="1"/>
              <a:t>এবং</a:t>
            </a:r>
            <a:r>
              <a:rPr lang="en-US" sz="2400" dirty="0"/>
              <a:t> Y </a:t>
            </a:r>
            <a:r>
              <a:rPr lang="en-US" sz="2400" dirty="0" err="1"/>
              <a:t>অক্ষকে</a:t>
            </a:r>
            <a:r>
              <a:rPr lang="en-US" sz="2400" dirty="0"/>
              <a:t> </a:t>
            </a:r>
            <a:r>
              <a:rPr lang="en-US" sz="2400" dirty="0" err="1"/>
              <a:t>স্পর্শ</a:t>
            </a:r>
            <a:r>
              <a:rPr lang="en-US" sz="2400" dirty="0"/>
              <a:t> </a:t>
            </a:r>
            <a:r>
              <a:rPr lang="en-US" sz="2400" dirty="0" err="1"/>
              <a:t>করলে</a:t>
            </a:r>
            <a:endParaRPr lang="en-US" sz="2400" dirty="0"/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CAA13050-26B6-24C6-C464-CE0D19FB9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546" y="2694058"/>
            <a:ext cx="3317938" cy="3317938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77DEF9-C002-8947-41D3-57502AB50846}"/>
              </a:ext>
            </a:extLst>
          </p:cNvPr>
          <p:cNvCxnSpPr>
            <a:cxnSpLocks/>
          </p:cNvCxnSpPr>
          <p:nvPr/>
        </p:nvCxnSpPr>
        <p:spPr>
          <a:xfrm>
            <a:off x="2355337" y="5518851"/>
            <a:ext cx="3317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A4A23BD-EDDE-D5B4-F5DF-6E8A691FDAAC}"/>
              </a:ext>
            </a:extLst>
          </p:cNvPr>
          <p:cNvSpPr txBox="1"/>
          <p:nvPr/>
        </p:nvSpPr>
        <p:spPr>
          <a:xfrm>
            <a:off x="2944128" y="4075367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C(-g,-f)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9F9772-432B-1DD9-7F3D-0C9F4F5A299E}"/>
              </a:ext>
            </a:extLst>
          </p:cNvPr>
          <p:cNvSpPr txBox="1"/>
          <p:nvPr/>
        </p:nvSpPr>
        <p:spPr>
          <a:xfrm>
            <a:off x="4749748" y="416836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CD9939-42B3-6280-2470-3C674B9B73AD}"/>
              </a:ext>
            </a:extLst>
          </p:cNvPr>
          <p:cNvSpPr txBox="1"/>
          <p:nvPr/>
        </p:nvSpPr>
        <p:spPr>
          <a:xfrm>
            <a:off x="2259992" y="551885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C23BBEC-A0BD-EE4C-9B41-3EE340CF77A2}"/>
              </a:ext>
            </a:extLst>
          </p:cNvPr>
          <p:cNvCxnSpPr>
            <a:cxnSpLocks/>
          </p:cNvCxnSpPr>
          <p:nvPr/>
        </p:nvCxnSpPr>
        <p:spPr>
          <a:xfrm>
            <a:off x="3524292" y="4444699"/>
            <a:ext cx="11147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D67922-E191-D168-9A28-924846497107}"/>
                  </a:ext>
                </a:extLst>
              </p:cNvPr>
              <p:cNvSpPr txBox="1"/>
              <p:nvPr/>
            </p:nvSpPr>
            <p:spPr>
              <a:xfrm>
                <a:off x="3865720" y="4080318"/>
                <a:ext cx="212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D67922-E191-D168-9A28-924846497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720" y="4080318"/>
                <a:ext cx="212789" cy="369332"/>
              </a:xfrm>
              <a:prstGeom prst="rect">
                <a:avLst/>
              </a:prstGeom>
              <a:blipFill>
                <a:blip r:embed="rId3"/>
                <a:stretch>
                  <a:fillRect r="-3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67899A4E-6F97-B81E-5F10-EEB2B58FB3C5}"/>
              </a:ext>
            </a:extLst>
          </p:cNvPr>
          <p:cNvSpPr/>
          <p:nvPr/>
        </p:nvSpPr>
        <p:spPr>
          <a:xfrm>
            <a:off x="3511327" y="4421839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B17F4EA-46CD-210F-480D-8E16E75760DC}"/>
                  </a:ext>
                </a:extLst>
              </p:cNvPr>
              <p:cNvSpPr txBox="1"/>
              <p:nvPr/>
            </p:nvSpPr>
            <p:spPr>
              <a:xfrm>
                <a:off x="5755166" y="3289325"/>
                <a:ext cx="18875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B17F4EA-46CD-210F-480D-8E16E7576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166" y="3289325"/>
                <a:ext cx="1887503" cy="461665"/>
              </a:xfrm>
              <a:prstGeom prst="rect">
                <a:avLst/>
              </a:prstGeom>
              <a:blipFill>
                <a:blip r:embed="rId4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E56758A7-4D6A-5D99-5DE5-AA1F4D38B920}"/>
              </a:ext>
            </a:extLst>
          </p:cNvPr>
          <p:cNvSpPr txBox="1"/>
          <p:nvPr/>
        </p:nvSpPr>
        <p:spPr>
          <a:xfrm>
            <a:off x="5606033" y="5336116"/>
            <a:ext cx="26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1CD222-ECB7-D959-B940-66BDF39B3867}"/>
              </a:ext>
            </a:extLst>
          </p:cNvPr>
          <p:cNvSpPr txBox="1"/>
          <p:nvPr/>
        </p:nvSpPr>
        <p:spPr>
          <a:xfrm>
            <a:off x="2057814" y="2509169"/>
            <a:ext cx="262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25CA49B-2315-3349-F969-E6127D84C04B}"/>
              </a:ext>
            </a:extLst>
          </p:cNvPr>
          <p:cNvCxnSpPr>
            <a:cxnSpLocks/>
          </p:cNvCxnSpPr>
          <p:nvPr/>
        </p:nvCxnSpPr>
        <p:spPr>
          <a:xfrm flipV="1">
            <a:off x="2358634" y="2200913"/>
            <a:ext cx="0" cy="3317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991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8F522-AE7A-4980-7835-93815159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F1A8-3A56-8D77-46F7-0E1397E5C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কিছু</a:t>
            </a:r>
            <a:r>
              <a:rPr lang="en-US" dirty="0"/>
              <a:t> </a:t>
            </a:r>
            <a:r>
              <a:rPr lang="en-US" dirty="0" err="1"/>
              <a:t>বৈশিষ্ট্য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B57DC-A89C-7C64-4764-D7AD07B93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0C02A-867C-8504-0BDA-3758808B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2FA558-67B7-AF04-7BC4-24B67431CEC6}"/>
              </a:ext>
            </a:extLst>
          </p:cNvPr>
          <p:cNvSpPr txBox="1"/>
          <p:nvPr/>
        </p:nvSpPr>
        <p:spPr>
          <a:xfrm>
            <a:off x="2133470" y="1567370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5. </a:t>
            </a:r>
            <a:r>
              <a:rPr lang="en-US" sz="2400" dirty="0" err="1"/>
              <a:t>দুটি</a:t>
            </a:r>
            <a:r>
              <a:rPr lang="en-US" sz="2400" dirty="0"/>
              <a:t> </a:t>
            </a:r>
            <a:r>
              <a:rPr lang="en-US" sz="2400" dirty="0" err="1"/>
              <a:t>বৃত্ত</a:t>
            </a:r>
            <a:r>
              <a:rPr lang="en-US" sz="2400" dirty="0"/>
              <a:t> </a:t>
            </a:r>
            <a:r>
              <a:rPr lang="en-US" sz="2400" dirty="0" err="1"/>
              <a:t>একে</a:t>
            </a:r>
            <a:r>
              <a:rPr lang="en-US" sz="2400" dirty="0"/>
              <a:t> </a:t>
            </a:r>
            <a:r>
              <a:rPr lang="en-US" sz="2400" dirty="0" err="1"/>
              <a:t>অপরকে</a:t>
            </a:r>
            <a:r>
              <a:rPr lang="en-US" sz="2400" dirty="0"/>
              <a:t> </a:t>
            </a:r>
            <a:r>
              <a:rPr lang="en-US" sz="2400" dirty="0" err="1"/>
              <a:t>স্পর্শ</a:t>
            </a:r>
            <a:r>
              <a:rPr lang="en-US" sz="2400" dirty="0"/>
              <a:t> </a:t>
            </a:r>
            <a:r>
              <a:rPr lang="en-US" sz="2400" dirty="0" err="1"/>
              <a:t>করলে</a:t>
            </a:r>
            <a:endParaRPr lang="en-US" sz="2400" dirty="0"/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BE3F9FB5-1600-2686-C726-EF74860E4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546" y="2694058"/>
            <a:ext cx="3317938" cy="331793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927F88C-C364-B9F4-7896-E3E42CB744F6}"/>
              </a:ext>
            </a:extLst>
          </p:cNvPr>
          <p:cNvSpPr txBox="1"/>
          <p:nvPr/>
        </p:nvSpPr>
        <p:spPr>
          <a:xfrm>
            <a:off x="2944128" y="4075367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5821676-E0E1-5E92-EB51-BDFC4801AFE9}"/>
              </a:ext>
            </a:extLst>
          </p:cNvPr>
          <p:cNvCxnSpPr>
            <a:cxnSpLocks/>
          </p:cNvCxnSpPr>
          <p:nvPr/>
        </p:nvCxnSpPr>
        <p:spPr>
          <a:xfrm flipV="1">
            <a:off x="3521153" y="4444476"/>
            <a:ext cx="1143448" cy="6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F97CD0-ED69-5C03-1F88-1D30320305D4}"/>
                  </a:ext>
                </a:extLst>
              </p:cNvPr>
              <p:cNvSpPr txBox="1"/>
              <p:nvPr/>
            </p:nvSpPr>
            <p:spPr>
              <a:xfrm>
                <a:off x="3865720" y="4080318"/>
                <a:ext cx="212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5F97CD0-ED69-5C03-1F88-1D3032030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720" y="4080318"/>
                <a:ext cx="212789" cy="369332"/>
              </a:xfrm>
              <a:prstGeom prst="rect">
                <a:avLst/>
              </a:prstGeom>
              <a:blipFill>
                <a:blip r:embed="rId3"/>
                <a:stretch>
                  <a:fillRect r="-9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386E7851-1F34-B5B1-E2A3-ECC0BF85B5A7}"/>
              </a:ext>
            </a:extLst>
          </p:cNvPr>
          <p:cNvSpPr/>
          <p:nvPr/>
        </p:nvSpPr>
        <p:spPr>
          <a:xfrm>
            <a:off x="3511327" y="4421839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8A46AE-F9D5-1062-7225-134F846D163A}"/>
                  </a:ext>
                </a:extLst>
              </p:cNvPr>
              <p:cNvSpPr txBox="1"/>
              <p:nvPr/>
            </p:nvSpPr>
            <p:spPr>
              <a:xfrm>
                <a:off x="2829734" y="5568737"/>
                <a:ext cx="23647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8A46AE-F9D5-1062-7225-134F846D1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734" y="5568737"/>
                <a:ext cx="236475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699B9550-96A0-7389-5088-054DB0F5E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0"/>
          <a:stretch/>
        </p:blipFill>
        <p:spPr>
          <a:xfrm>
            <a:off x="4674427" y="3377101"/>
            <a:ext cx="1805571" cy="21347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6C776E-A1FF-AA97-78EF-F8D166B5304D}"/>
              </a:ext>
            </a:extLst>
          </p:cNvPr>
          <p:cNvSpPr txBox="1"/>
          <p:nvPr/>
        </p:nvSpPr>
        <p:spPr>
          <a:xfrm>
            <a:off x="5116367" y="4038331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7855EFF-DD4F-C1FF-0CA7-305EC496CBB1}"/>
              </a:ext>
            </a:extLst>
          </p:cNvPr>
          <p:cNvCxnSpPr>
            <a:cxnSpLocks/>
            <a:endCxn id="6" idx="1"/>
          </p:cNvCxnSpPr>
          <p:nvPr/>
        </p:nvCxnSpPr>
        <p:spPr>
          <a:xfrm flipH="1">
            <a:off x="4674427" y="4444476"/>
            <a:ext cx="6470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AB7C1B-2667-6076-CD93-D170BEE38A59}"/>
                  </a:ext>
                </a:extLst>
              </p:cNvPr>
              <p:cNvSpPr txBox="1"/>
              <p:nvPr/>
            </p:nvSpPr>
            <p:spPr>
              <a:xfrm>
                <a:off x="4719211" y="4092860"/>
                <a:ext cx="2127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AB7C1B-2667-6076-CD93-D170BEE38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211" y="4092860"/>
                <a:ext cx="212789" cy="369332"/>
              </a:xfrm>
              <a:prstGeom prst="rect">
                <a:avLst/>
              </a:prstGeom>
              <a:blipFill>
                <a:blip r:embed="rId5"/>
                <a:stretch>
                  <a:fillRect r="-9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4D3FBAD8-7E4D-783C-6690-C44FA8993FFF}"/>
              </a:ext>
            </a:extLst>
          </p:cNvPr>
          <p:cNvSpPr/>
          <p:nvPr/>
        </p:nvSpPr>
        <p:spPr>
          <a:xfrm>
            <a:off x="5307517" y="4426395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6">
            <a:extLst>
              <a:ext uri="{FF2B5EF4-FFF2-40B4-BE49-F238E27FC236}">
                <a16:creationId xmlns:a16="http://schemas.microsoft.com/office/drawing/2014/main" id="{F7136A36-44A7-6ACE-68C9-AAD41E002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6"/>
          <a:stretch/>
        </p:blipFill>
        <p:spPr>
          <a:xfrm>
            <a:off x="7351587" y="2011651"/>
            <a:ext cx="3643828" cy="41624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EFF053-A381-8734-B70B-CC7C5B8BAF06}"/>
              </a:ext>
            </a:extLst>
          </p:cNvPr>
          <p:cNvSpPr txBox="1"/>
          <p:nvPr/>
        </p:nvSpPr>
        <p:spPr>
          <a:xfrm>
            <a:off x="8555677" y="4210637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1488C6-4C5E-EF2C-5118-ACCC0FB09B5C}"/>
                  </a:ext>
                </a:extLst>
              </p:cNvPr>
              <p:cNvSpPr txBox="1"/>
              <p:nvPr/>
            </p:nvSpPr>
            <p:spPr>
              <a:xfrm>
                <a:off x="8897956" y="3807451"/>
                <a:ext cx="301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1488C6-4C5E-EF2C-5118-ACCC0FB09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956" y="3807451"/>
                <a:ext cx="301050" cy="369332"/>
              </a:xfrm>
              <a:prstGeom prst="rect">
                <a:avLst/>
              </a:prstGeom>
              <a:blipFill>
                <a:blip r:embed="rId6"/>
                <a:stretch>
                  <a:fillRect r="-36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D22EF5B3-C1AD-67FC-80E0-0204E7C93622}"/>
              </a:ext>
            </a:extLst>
          </p:cNvPr>
          <p:cNvSpPr/>
          <p:nvPr/>
        </p:nvSpPr>
        <p:spPr>
          <a:xfrm>
            <a:off x="8843725" y="4149655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7AFE90-50F6-938E-6B6D-595E393D17CF}"/>
                  </a:ext>
                </a:extLst>
              </p:cNvPr>
              <p:cNvSpPr txBox="1"/>
              <p:nvPr/>
            </p:nvSpPr>
            <p:spPr>
              <a:xfrm>
                <a:off x="7866106" y="5550432"/>
                <a:ext cx="23647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7AFE90-50F6-938E-6B6D-595E393D1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106" y="5550432"/>
                <a:ext cx="2364750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F73F48E9-13E8-9CF2-516B-C8F0411B38B1}"/>
              </a:ext>
            </a:extLst>
          </p:cNvPr>
          <p:cNvSpPr/>
          <p:nvPr/>
        </p:nvSpPr>
        <p:spPr>
          <a:xfrm>
            <a:off x="9244727" y="3596876"/>
            <a:ext cx="1070727" cy="104851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46FE4AEE-FF01-8264-99E6-A6416FD8D1D8}"/>
              </a:ext>
            </a:extLst>
          </p:cNvPr>
          <p:cNvSpPr/>
          <p:nvPr/>
        </p:nvSpPr>
        <p:spPr>
          <a:xfrm>
            <a:off x="9741912" y="4139337"/>
            <a:ext cx="45719" cy="45719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C2C5AC2-7D4A-E8E4-D6B2-810C3E3971FA}"/>
              </a:ext>
            </a:extLst>
          </p:cNvPr>
          <p:cNvCxnSpPr>
            <a:cxnSpLocks/>
            <a:stCxn id="21" idx="2"/>
          </p:cNvCxnSpPr>
          <p:nvPr/>
        </p:nvCxnSpPr>
        <p:spPr>
          <a:xfrm flipV="1">
            <a:off x="8843725" y="4172514"/>
            <a:ext cx="147172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5F766D-758A-88E9-9150-4EF7A07D5665}"/>
                  </a:ext>
                </a:extLst>
              </p:cNvPr>
              <p:cNvSpPr txBox="1"/>
              <p:nvPr/>
            </p:nvSpPr>
            <p:spPr>
              <a:xfrm flipH="1">
                <a:off x="9833352" y="3807720"/>
                <a:ext cx="3996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5F766D-758A-88E9-9150-4EF7A07D5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833352" y="3807720"/>
                <a:ext cx="399638" cy="369332"/>
              </a:xfrm>
              <a:prstGeom prst="rect">
                <a:avLst/>
              </a:prstGeom>
              <a:blipFill>
                <a:blip r:embed="rId8"/>
                <a:stretch>
                  <a:fillRect r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ADDFF0B3-1F96-2C9E-2DB4-8D0FD3FE5138}"/>
              </a:ext>
            </a:extLst>
          </p:cNvPr>
          <p:cNvSpPr txBox="1"/>
          <p:nvPr/>
        </p:nvSpPr>
        <p:spPr>
          <a:xfrm>
            <a:off x="9562830" y="4149655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662021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3D961-1E18-CB2E-0332-F177215D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783B1-0952-6C17-C31D-54E3D606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কিছু</a:t>
            </a:r>
            <a:r>
              <a:rPr lang="en-US" dirty="0"/>
              <a:t> </a:t>
            </a:r>
            <a:r>
              <a:rPr lang="en-US" dirty="0" err="1"/>
              <a:t>বৈশিষ্ট্য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175DF-15DC-FEF3-4585-41873B3C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F1FE8-7E3D-68FB-3A17-AD2761B11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B64678-00C6-B03B-6873-3A4CE72D21F0}"/>
              </a:ext>
            </a:extLst>
          </p:cNvPr>
          <p:cNvSpPr txBox="1"/>
          <p:nvPr/>
        </p:nvSpPr>
        <p:spPr>
          <a:xfrm>
            <a:off x="2133470" y="1567370"/>
            <a:ext cx="6094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6. </a:t>
            </a:r>
            <a:r>
              <a:rPr lang="en-US" sz="2400" dirty="0" err="1"/>
              <a:t>একটি</a:t>
            </a:r>
            <a:r>
              <a:rPr lang="en-US" sz="2400" dirty="0"/>
              <a:t> </a:t>
            </a:r>
            <a:r>
              <a:rPr lang="en-US" sz="2400" dirty="0" err="1"/>
              <a:t>সরলরেখা</a:t>
            </a:r>
            <a:r>
              <a:rPr lang="en-US" sz="2400" dirty="0"/>
              <a:t> </a:t>
            </a:r>
            <a:r>
              <a:rPr lang="en-US" sz="2400" dirty="0" err="1"/>
              <a:t>কোনো</a:t>
            </a:r>
            <a:r>
              <a:rPr lang="en-US" sz="2400" dirty="0"/>
              <a:t> </a:t>
            </a:r>
            <a:r>
              <a:rPr lang="en-US" sz="2400" dirty="0" err="1"/>
              <a:t>বৃত্তকে</a:t>
            </a:r>
            <a:r>
              <a:rPr lang="en-US" sz="2400" dirty="0"/>
              <a:t> </a:t>
            </a:r>
            <a:r>
              <a:rPr lang="en-US" sz="2400" dirty="0" err="1"/>
              <a:t>স্পর্শ</a:t>
            </a:r>
            <a:r>
              <a:rPr lang="en-US" sz="2400" dirty="0"/>
              <a:t> </a:t>
            </a:r>
            <a:r>
              <a:rPr lang="en-US" sz="2400" dirty="0" err="1"/>
              <a:t>করলে</a:t>
            </a:r>
            <a:endParaRPr lang="en-US" sz="2400" dirty="0"/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4C3737DD-DFE0-D84B-EC4D-96776BD5A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091" y="2800410"/>
            <a:ext cx="3317938" cy="331793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EB5FB96-FF19-94A8-D7B6-1A37D437DF4A}"/>
              </a:ext>
            </a:extLst>
          </p:cNvPr>
          <p:cNvSpPr txBox="1"/>
          <p:nvPr/>
        </p:nvSpPr>
        <p:spPr>
          <a:xfrm>
            <a:off x="2383064" y="4389244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9ECFD55-7C4A-3417-66B7-8561948E7F21}"/>
              </a:ext>
            </a:extLst>
          </p:cNvPr>
          <p:cNvCxnSpPr>
            <a:cxnSpLocks/>
          </p:cNvCxnSpPr>
          <p:nvPr/>
        </p:nvCxnSpPr>
        <p:spPr>
          <a:xfrm flipV="1">
            <a:off x="2810698" y="4550828"/>
            <a:ext cx="1143448" cy="6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04D685BC-A2B4-548F-2DD5-0EE1AAE79322}"/>
              </a:ext>
            </a:extLst>
          </p:cNvPr>
          <p:cNvSpPr/>
          <p:nvPr/>
        </p:nvSpPr>
        <p:spPr>
          <a:xfrm>
            <a:off x="2800872" y="4528191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D3F718-4F89-40D6-850D-297523E6E5B6}"/>
                  </a:ext>
                </a:extLst>
              </p:cNvPr>
              <p:cNvSpPr txBox="1"/>
              <p:nvPr/>
            </p:nvSpPr>
            <p:spPr>
              <a:xfrm>
                <a:off x="1876546" y="5710815"/>
                <a:ext cx="1924438" cy="537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𝑂𝑃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ব্যাসার্ধ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D3F718-4F89-40D6-850D-297523E6E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546" y="5710815"/>
                <a:ext cx="1924438" cy="5379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EC1A232-2BF8-AFFE-ABBE-58EAF682D291}"/>
              </a:ext>
            </a:extLst>
          </p:cNvPr>
          <p:cNvCxnSpPr>
            <a:cxnSpLocks/>
          </p:cNvCxnSpPr>
          <p:nvPr/>
        </p:nvCxnSpPr>
        <p:spPr>
          <a:xfrm>
            <a:off x="3954146" y="3467342"/>
            <a:ext cx="37155" cy="21216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5EA6686-366D-ACD0-37C3-64DD07B2DAC9}"/>
                  </a:ext>
                </a:extLst>
              </p:cNvPr>
              <p:cNvSpPr txBox="1"/>
              <p:nvPr/>
            </p:nvSpPr>
            <p:spPr>
              <a:xfrm>
                <a:off x="2724994" y="4022516"/>
                <a:ext cx="1117614" cy="537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ব্যাসার্ধ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5EA6686-366D-ACD0-37C3-64DD07B2D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994" y="4022516"/>
                <a:ext cx="1117614" cy="5379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87D7ABB-2EF0-76DB-18B8-94F08253B01C}"/>
                  </a:ext>
                </a:extLst>
              </p:cNvPr>
              <p:cNvSpPr txBox="1"/>
              <p:nvPr/>
            </p:nvSpPr>
            <p:spPr>
              <a:xfrm>
                <a:off x="5701288" y="2845441"/>
                <a:ext cx="45611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সরলরেখা</m:t>
                    </m:r>
                  </m:oMath>
                </a14:m>
                <a:r>
                  <a:rPr lang="en-US" sz="2400" dirty="0"/>
                  <a:t>/</a:t>
                </a:r>
                <a:r>
                  <a:rPr lang="en-US" sz="2400" dirty="0" err="1"/>
                  <a:t>স্পর্শকের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সমীকরণ</a:t>
                </a:r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87D7ABB-2EF0-76DB-18B8-94F08253B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288" y="2845441"/>
                <a:ext cx="4561120" cy="461665"/>
              </a:xfrm>
              <a:prstGeom prst="rect">
                <a:avLst/>
              </a:prstGeom>
              <a:blipFill>
                <a:blip r:embed="rId5"/>
                <a:stretch>
                  <a:fillRect t="-10526" r="-1203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EABEC7A-349C-5AD4-7DE3-41E34EA358DE}"/>
                  </a:ext>
                </a:extLst>
              </p:cNvPr>
              <p:cNvSpPr txBox="1"/>
              <p:nvPr/>
            </p:nvSpPr>
            <p:spPr>
              <a:xfrm>
                <a:off x="3970192" y="4284733"/>
                <a:ext cx="15130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EABEC7A-349C-5AD4-7DE3-41E34EA35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192" y="4284733"/>
                <a:ext cx="1513043" cy="461665"/>
              </a:xfrm>
              <a:prstGeom prst="rect">
                <a:avLst/>
              </a:prstGeom>
              <a:blipFill>
                <a:blip r:embed="rId6"/>
                <a:stretch>
                  <a:fillRect r="-806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C144C76-08C7-C2F6-94C4-E1692E9D6992}"/>
                  </a:ext>
                </a:extLst>
              </p:cNvPr>
              <p:cNvSpPr txBox="1"/>
              <p:nvPr/>
            </p:nvSpPr>
            <p:spPr>
              <a:xfrm>
                <a:off x="5722876" y="3426863"/>
                <a:ext cx="61039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C144C76-08C7-C2F6-94C4-E1692E9D6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876" y="3426863"/>
                <a:ext cx="6103915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51CD07FC-650C-52A8-33D0-1FE53E15A06A}"/>
              </a:ext>
            </a:extLst>
          </p:cNvPr>
          <p:cNvSpPr txBox="1"/>
          <p:nvPr/>
        </p:nvSpPr>
        <p:spPr>
          <a:xfrm>
            <a:off x="3871681" y="563250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15BD16-0420-874F-5D79-7FC5505B4052}"/>
              </a:ext>
            </a:extLst>
          </p:cNvPr>
          <p:cNvSpPr txBox="1"/>
          <p:nvPr/>
        </p:nvSpPr>
        <p:spPr>
          <a:xfrm>
            <a:off x="3756294" y="3129279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C093A6F-2A9F-7179-FB21-A77572E5D855}"/>
                  </a:ext>
                </a:extLst>
              </p:cNvPr>
              <p:cNvSpPr txBox="1"/>
              <p:nvPr/>
            </p:nvSpPr>
            <p:spPr>
              <a:xfrm>
                <a:off x="5682602" y="5299440"/>
                <a:ext cx="637212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>
                    <a:latin typeface="Cambria Math" panose="02040503050406030204" pitchFamily="18" charset="0"/>
                  </a:rPr>
                  <a:t>Math: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বৃত্তের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উপরস্থু</a:t>
                </a:r>
                <a:endParaRPr lang="en-US" sz="2400" dirty="0"/>
              </a:p>
              <a:p>
                <a:r>
                  <a:rPr lang="en-US" sz="2400" dirty="0"/>
                  <a:t>(2,1) </a:t>
                </a:r>
                <a:r>
                  <a:rPr lang="en-US" sz="2400" dirty="0" err="1"/>
                  <a:t>বিন্দুতে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স্পর্শকের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সমীকরণ</a:t>
                </a:r>
                <a:r>
                  <a:rPr lang="en-US" sz="2400" dirty="0"/>
                  <a:t>?</a:t>
                </a: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C093A6F-2A9F-7179-FB21-A77572E5D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602" y="5299440"/>
                <a:ext cx="6372129" cy="830997"/>
              </a:xfrm>
              <a:prstGeom prst="rect">
                <a:avLst/>
              </a:prstGeom>
              <a:blipFill>
                <a:blip r:embed="rId8"/>
                <a:stretch>
                  <a:fillRect l="-1435" t="-5839" r="-574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665B23F-8424-4118-A969-93118534B37F}"/>
                  </a:ext>
                </a:extLst>
              </p:cNvPr>
              <p:cNvSpPr txBox="1"/>
              <p:nvPr/>
            </p:nvSpPr>
            <p:spPr>
              <a:xfrm>
                <a:off x="2133470" y="2159435"/>
                <a:ext cx="9105185" cy="52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বৃত্তের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উপরস্থু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কোনো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বিন্দু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665B23F-8424-4118-A969-93118534B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470" y="2159435"/>
                <a:ext cx="9105185" cy="5223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2EE54FD-769B-B22D-5F88-1582EEF42AD5}"/>
                  </a:ext>
                </a:extLst>
              </p:cNvPr>
              <p:cNvSpPr txBox="1"/>
              <p:nvPr/>
            </p:nvSpPr>
            <p:spPr>
              <a:xfrm>
                <a:off x="9391128" y="4098755"/>
                <a:ext cx="22247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2EE54FD-769B-B22D-5F88-1582EEF42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1128" y="4098755"/>
                <a:ext cx="2224776" cy="461665"/>
              </a:xfrm>
              <a:prstGeom prst="rect">
                <a:avLst/>
              </a:prstGeom>
              <a:blipFill>
                <a:blip r:embed="rId10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02EFECC-6B55-ECCD-68AD-C20A038F622C}"/>
                  </a:ext>
                </a:extLst>
              </p:cNvPr>
              <p:cNvSpPr txBox="1"/>
              <p:nvPr/>
            </p:nvSpPr>
            <p:spPr>
              <a:xfrm>
                <a:off x="5698988" y="4116361"/>
                <a:ext cx="3768018" cy="4694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বৃত্তের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ক্ষেত্রে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02EFECC-6B55-ECCD-68AD-C20A038F6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988" y="4116361"/>
                <a:ext cx="3768018" cy="469487"/>
              </a:xfrm>
              <a:prstGeom prst="rect">
                <a:avLst/>
              </a:prstGeom>
              <a:blipFill>
                <a:blip r:embed="rId11"/>
                <a:stretch>
                  <a:fillRect b="-23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E92F8BF-F832-6372-E671-1B1117060289}"/>
                  </a:ext>
                </a:extLst>
              </p14:cNvPr>
              <p14:cNvContentPartPr/>
              <p14:nvPr/>
            </p14:nvContentPartPr>
            <p14:xfrm>
              <a:off x="5303376" y="4290552"/>
              <a:ext cx="18360" cy="52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E92F8BF-F832-6372-E671-1B111706028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94736" y="4281912"/>
                <a:ext cx="3600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1036749-AF72-7065-092B-B76AFA54543E}"/>
                  </a:ext>
                </a:extLst>
              </p14:cNvPr>
              <p14:cNvContentPartPr/>
              <p14:nvPr/>
            </p14:nvContentPartPr>
            <p14:xfrm>
              <a:off x="3977496" y="4571712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1036749-AF72-7065-092B-B76AFA54543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68856" y="4563072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07EECFA4-E425-5B4C-6907-46B9C83AC57D}"/>
              </a:ext>
            </a:extLst>
          </p:cNvPr>
          <p:cNvGrpSpPr/>
          <p:nvPr/>
        </p:nvGrpSpPr>
        <p:grpSpPr>
          <a:xfrm>
            <a:off x="3977496" y="4571712"/>
            <a:ext cx="18360" cy="9720"/>
            <a:chOff x="3977496" y="4571712"/>
            <a:chExt cx="18360" cy="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35FFC34-3C22-C286-3B53-5186CB39A55E}"/>
                    </a:ext>
                  </a:extLst>
                </p14:cNvPr>
                <p14:cNvContentPartPr/>
                <p14:nvPr/>
              </p14:nvContentPartPr>
              <p14:xfrm>
                <a:off x="3995496" y="4571712"/>
                <a:ext cx="360" cy="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35FFC34-3C22-C286-3B53-5186CB39A5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86856" y="45630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E19C211-2B74-2AC9-EDE2-0FEED1F77689}"/>
                    </a:ext>
                  </a:extLst>
                </p14:cNvPr>
                <p14:cNvContentPartPr/>
                <p14:nvPr/>
              </p14:nvContentPartPr>
              <p14:xfrm>
                <a:off x="3977496" y="4581072"/>
                <a:ext cx="360" cy="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E19C211-2B74-2AC9-EDE2-0FEED1F776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68856" y="457207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1092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5F9C3-B4ED-0231-5F30-79C23F91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80194-6BEA-B94A-C9F6-D21A64A2E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কিছু</a:t>
            </a:r>
            <a:r>
              <a:rPr lang="en-US" dirty="0"/>
              <a:t> </a:t>
            </a:r>
            <a:r>
              <a:rPr lang="en-US" dirty="0" err="1"/>
              <a:t>বৈশিষ্ট্য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13E8E-FD5D-47E9-CC19-41AB83A1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BF51A-1CC6-7A64-8870-7E5200C91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8C9383-9223-9A2A-D3FC-4667B5FBF6C1}"/>
              </a:ext>
            </a:extLst>
          </p:cNvPr>
          <p:cNvSpPr txBox="1"/>
          <p:nvPr/>
        </p:nvSpPr>
        <p:spPr>
          <a:xfrm>
            <a:off x="2133470" y="1567370"/>
            <a:ext cx="8752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বৃত্তের</a:t>
            </a:r>
            <a:r>
              <a:rPr lang="en-US" sz="2400" dirty="0"/>
              <a:t> </a:t>
            </a:r>
            <a:r>
              <a:rPr lang="en-US" sz="2400" dirty="0" err="1"/>
              <a:t>বহিস্থ</a:t>
            </a:r>
            <a:r>
              <a:rPr lang="en-US" sz="2400" dirty="0"/>
              <a:t> </a:t>
            </a:r>
            <a:r>
              <a:rPr lang="en-US" sz="2400" dirty="0" err="1"/>
              <a:t>কোনো</a:t>
            </a:r>
            <a:r>
              <a:rPr lang="en-US" sz="2400" dirty="0"/>
              <a:t> </a:t>
            </a:r>
            <a:r>
              <a:rPr lang="en-US" sz="2400" dirty="0" err="1"/>
              <a:t>বিন্দু</a:t>
            </a:r>
            <a:r>
              <a:rPr lang="en-US" sz="2400" dirty="0"/>
              <a:t> </a:t>
            </a:r>
            <a:r>
              <a:rPr lang="en-US" sz="2400" dirty="0" err="1"/>
              <a:t>থেকে</a:t>
            </a:r>
            <a:r>
              <a:rPr lang="en-US" sz="2400" dirty="0"/>
              <a:t> </a:t>
            </a:r>
            <a:r>
              <a:rPr lang="en-US" sz="2400" dirty="0" err="1"/>
              <a:t>বৃত্তের</a:t>
            </a:r>
            <a:r>
              <a:rPr lang="en-US" sz="2400" dirty="0"/>
              <a:t> </a:t>
            </a:r>
            <a:r>
              <a:rPr lang="en-US" sz="2400" dirty="0" err="1"/>
              <a:t>উপর</a:t>
            </a:r>
            <a:r>
              <a:rPr lang="en-US" sz="2400" dirty="0"/>
              <a:t> </a:t>
            </a:r>
            <a:r>
              <a:rPr lang="en-US" sz="2400" dirty="0" err="1"/>
              <a:t>অঙ্কিত</a:t>
            </a:r>
            <a:r>
              <a:rPr lang="en-US" sz="2400" dirty="0"/>
              <a:t> </a:t>
            </a:r>
            <a:r>
              <a:rPr lang="en-US" sz="2400" dirty="0" err="1"/>
              <a:t>স্পর্শকের</a:t>
            </a:r>
            <a:r>
              <a:rPr lang="en-US" sz="2400" dirty="0"/>
              <a:t> </a:t>
            </a:r>
            <a:r>
              <a:rPr lang="en-US" sz="2400" dirty="0" err="1"/>
              <a:t>দৈর্ঘ্য</a:t>
            </a:r>
            <a:endParaRPr lang="en-US" sz="2400" dirty="0"/>
          </a:p>
        </p:txBody>
      </p:sp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5B15443D-0FE1-12E9-CEB1-97E20CB04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065" y="2469134"/>
            <a:ext cx="3317938" cy="331793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CE11B67-0617-F64B-0E98-9C258432ED33}"/>
              </a:ext>
            </a:extLst>
          </p:cNvPr>
          <p:cNvSpPr txBox="1"/>
          <p:nvPr/>
        </p:nvSpPr>
        <p:spPr>
          <a:xfrm>
            <a:off x="2419038" y="40579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4DCF31E-FE3E-04C5-5429-A5145B265DF0}"/>
              </a:ext>
            </a:extLst>
          </p:cNvPr>
          <p:cNvCxnSpPr>
            <a:cxnSpLocks/>
          </p:cNvCxnSpPr>
          <p:nvPr/>
        </p:nvCxnSpPr>
        <p:spPr>
          <a:xfrm flipV="1">
            <a:off x="2419038" y="4258468"/>
            <a:ext cx="3849898" cy="1206902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E52F865C-48CE-21FF-C8AE-684722A87BC2}"/>
              </a:ext>
            </a:extLst>
          </p:cNvPr>
          <p:cNvSpPr/>
          <p:nvPr/>
        </p:nvSpPr>
        <p:spPr>
          <a:xfrm>
            <a:off x="2836846" y="4196915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0F93213-71EE-9375-D3E5-8CEDD01E913D}"/>
              </a:ext>
            </a:extLst>
          </p:cNvPr>
          <p:cNvCxnSpPr>
            <a:cxnSpLocks/>
          </p:cNvCxnSpPr>
          <p:nvPr/>
        </p:nvCxnSpPr>
        <p:spPr>
          <a:xfrm flipH="1" flipV="1">
            <a:off x="2419038" y="2699473"/>
            <a:ext cx="3849898" cy="156205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96E7CCE-72A0-3181-C1D7-1F4E2CF641A1}"/>
                  </a:ext>
                </a:extLst>
              </p:cNvPr>
              <p:cNvSpPr txBox="1"/>
              <p:nvPr/>
            </p:nvSpPr>
            <p:spPr>
              <a:xfrm>
                <a:off x="2760968" y="3691240"/>
                <a:ext cx="1117614" cy="537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ব্যাসার্ধ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96E7CCE-72A0-3181-C1D7-1F4E2CF64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968" y="3691240"/>
                <a:ext cx="1117614" cy="5379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FDB5944-043B-6C24-8449-98280F0ECF6F}"/>
                  </a:ext>
                </a:extLst>
              </p:cNvPr>
              <p:cNvSpPr txBox="1"/>
              <p:nvPr/>
            </p:nvSpPr>
            <p:spPr>
              <a:xfrm>
                <a:off x="6036599" y="3733882"/>
                <a:ext cx="15130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FDB5944-043B-6C24-8449-98280F0EC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599" y="3733882"/>
                <a:ext cx="1513043" cy="461665"/>
              </a:xfrm>
              <a:prstGeom prst="rect">
                <a:avLst/>
              </a:prstGeom>
              <a:blipFill>
                <a:blip r:embed="rId4"/>
                <a:stretch>
                  <a:fillRect r="-806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22B72E1F-FAF5-2D7D-1763-3AF52C67017D}"/>
              </a:ext>
            </a:extLst>
          </p:cNvPr>
          <p:cNvSpPr txBox="1"/>
          <p:nvPr/>
        </p:nvSpPr>
        <p:spPr>
          <a:xfrm>
            <a:off x="3871681" y="563250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414E8A-54AC-A98B-1281-97D3E1D0267E}"/>
              </a:ext>
            </a:extLst>
          </p:cNvPr>
          <p:cNvSpPr txBox="1"/>
          <p:nvPr/>
        </p:nvSpPr>
        <p:spPr>
          <a:xfrm>
            <a:off x="3256422" y="2677151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9A5794D-3516-BF63-1452-E0805966FDC6}"/>
                  </a:ext>
                </a:extLst>
              </p:cNvPr>
              <p:cNvSpPr txBox="1"/>
              <p:nvPr/>
            </p:nvSpPr>
            <p:spPr>
              <a:xfrm>
                <a:off x="2133470" y="2159435"/>
                <a:ext cx="6822702" cy="5425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বৃত্তের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সমীকরণ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9A5794D-3516-BF63-1452-E0805966F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470" y="2159435"/>
                <a:ext cx="6822702" cy="5425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3C5784-5A87-3F48-E26D-06649B3EE546}"/>
                  </a:ext>
                </a:extLst>
              </p:cNvPr>
              <p:cNvSpPr txBox="1"/>
              <p:nvPr/>
            </p:nvSpPr>
            <p:spPr>
              <a:xfrm>
                <a:off x="5544821" y="5165965"/>
                <a:ext cx="6097656" cy="53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PA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3C5784-5A87-3F48-E26D-06649B3EE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821" y="5165965"/>
                <a:ext cx="6097656" cy="5395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F6B1DF-7B24-2557-15F0-EFA838C77156}"/>
                  </a:ext>
                </a:extLst>
              </p:cNvPr>
              <p:cNvSpPr txBox="1"/>
              <p:nvPr/>
            </p:nvSpPr>
            <p:spPr>
              <a:xfrm>
                <a:off x="5977451" y="4641515"/>
                <a:ext cx="2330910" cy="5379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স্পর্শকের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দৈর্ঘ্য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F6B1DF-7B24-2557-15F0-EFA838C77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451" y="4641515"/>
                <a:ext cx="2330910" cy="5379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965D426-E0BC-2042-8FB3-3F321C37828C}"/>
              </a:ext>
            </a:extLst>
          </p:cNvPr>
          <p:cNvSpPr txBox="1"/>
          <p:nvPr/>
        </p:nvSpPr>
        <p:spPr>
          <a:xfrm>
            <a:off x="3149208" y="520341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A’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C498A441-BA30-FCB8-20C5-9D8687491B43}"/>
              </a:ext>
            </a:extLst>
          </p:cNvPr>
          <p:cNvSpPr/>
          <p:nvPr/>
        </p:nvSpPr>
        <p:spPr>
          <a:xfrm>
            <a:off x="6249849" y="4238132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66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71EA9-E83A-885E-FAC4-0BEB605E7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D375-DB26-5B3A-C02A-BECA3E62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বৃত্তের</a:t>
            </a:r>
            <a:r>
              <a:rPr lang="en-US" dirty="0"/>
              <a:t> </a:t>
            </a:r>
            <a:r>
              <a:rPr lang="en-US" dirty="0" err="1"/>
              <a:t>কিছু</a:t>
            </a:r>
            <a:r>
              <a:rPr lang="en-US" dirty="0"/>
              <a:t> </a:t>
            </a:r>
            <a:r>
              <a:rPr lang="en-US" dirty="0" err="1"/>
              <a:t>বৈশিষ্ট্য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A8AE1-DC59-E3B7-07A2-439DB070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11506-8ABC-0F16-C4A7-24956E192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E11D0D-B023-6074-6F27-005541468D0E}"/>
                  </a:ext>
                </a:extLst>
              </p:cNvPr>
              <p:cNvSpPr txBox="1"/>
              <p:nvPr/>
            </p:nvSpPr>
            <p:spPr>
              <a:xfrm>
                <a:off x="2133470" y="1567370"/>
                <a:ext cx="72016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Y=</a:t>
                </a:r>
                <a:r>
                  <a:rPr lang="en-US" sz="2400" dirty="0" err="1"/>
                  <a:t>mx+c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সরলরেখা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বৃত্তের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স্পর্শক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হলে</a:t>
                </a:r>
                <a:r>
                  <a:rPr lang="en-US" sz="2400" dirty="0"/>
                  <a:t>,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E11D0D-B023-6074-6F27-00554146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470" y="1567370"/>
                <a:ext cx="7201651" cy="461665"/>
              </a:xfrm>
              <a:prstGeom prst="rect">
                <a:avLst/>
              </a:prstGeom>
              <a:blipFill>
                <a:blip r:embed="rId2"/>
                <a:stretch>
                  <a:fillRect l="-1355" t="-10526" r="-339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CFFAEE32-FDF3-5A1E-C230-F24B3EAD0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065" y="2469134"/>
            <a:ext cx="3317938" cy="331793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011A3B9-4AA5-F0FD-4294-84F9593E56B0}"/>
              </a:ext>
            </a:extLst>
          </p:cNvPr>
          <p:cNvSpPr txBox="1"/>
          <p:nvPr/>
        </p:nvSpPr>
        <p:spPr>
          <a:xfrm>
            <a:off x="2419038" y="4057968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CB8C1C8C-9E8D-24E3-566A-3C4E756F6441}"/>
              </a:ext>
            </a:extLst>
          </p:cNvPr>
          <p:cNvSpPr/>
          <p:nvPr/>
        </p:nvSpPr>
        <p:spPr>
          <a:xfrm>
            <a:off x="2836846" y="4196915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9EC0E1-2ADF-FB62-2261-78F0B39147CB}"/>
              </a:ext>
            </a:extLst>
          </p:cNvPr>
          <p:cNvCxnSpPr>
            <a:cxnSpLocks/>
          </p:cNvCxnSpPr>
          <p:nvPr/>
        </p:nvCxnSpPr>
        <p:spPr>
          <a:xfrm flipH="1" flipV="1">
            <a:off x="1675700" y="2382022"/>
            <a:ext cx="3849898" cy="1562056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1BB048-CC1E-3868-7D75-FC89DDAEE734}"/>
                  </a:ext>
                </a:extLst>
              </p:cNvPr>
              <p:cNvSpPr txBox="1"/>
              <p:nvPr/>
            </p:nvSpPr>
            <p:spPr>
              <a:xfrm>
                <a:off x="2760968" y="3691240"/>
                <a:ext cx="1117614" cy="5379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ব্যাসার্ধ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1BB048-CC1E-3868-7D75-FC89DDAEE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968" y="3691240"/>
                <a:ext cx="1117614" cy="5379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65407E9-AB14-2F08-84DE-4097E2AD433F}"/>
                  </a:ext>
                </a:extLst>
              </p:cNvPr>
              <p:cNvSpPr txBox="1"/>
              <p:nvPr/>
            </p:nvSpPr>
            <p:spPr>
              <a:xfrm>
                <a:off x="2857311" y="2500175"/>
                <a:ext cx="15130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65407E9-AB14-2F08-84DE-4097E2AD4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311" y="2500175"/>
                <a:ext cx="1513043" cy="461665"/>
              </a:xfrm>
              <a:prstGeom prst="rect">
                <a:avLst/>
              </a:prstGeom>
              <a:blipFill>
                <a:blip r:embed="rId5"/>
                <a:stretch>
                  <a:fillRect r="-403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0875F921-C374-652C-2573-E8E2FDA7B7BA}"/>
              </a:ext>
            </a:extLst>
          </p:cNvPr>
          <p:cNvSpPr txBox="1"/>
          <p:nvPr/>
        </p:nvSpPr>
        <p:spPr>
          <a:xfrm>
            <a:off x="3871681" y="563250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13A75FAA-BE4D-3E36-E9F0-48B44195CFEC}"/>
              </a:ext>
            </a:extLst>
          </p:cNvPr>
          <p:cNvSpPr/>
          <p:nvPr/>
        </p:nvSpPr>
        <p:spPr>
          <a:xfrm>
            <a:off x="6249849" y="4238132"/>
            <a:ext cx="45719" cy="4571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31D261-34C8-C909-95D1-25B9030C3613}"/>
                  </a:ext>
                </a:extLst>
              </p:cNvPr>
              <p:cNvSpPr txBox="1"/>
              <p:nvPr/>
            </p:nvSpPr>
            <p:spPr>
              <a:xfrm>
                <a:off x="4343987" y="2137558"/>
                <a:ext cx="72016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Y=</a:t>
                </a:r>
                <a:r>
                  <a:rPr lang="en-US" sz="2400" dirty="0" err="1"/>
                  <a:t>mx+c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সরলরেখা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বৃত্তের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স্পর্শক</a:t>
                </a:r>
                <a:r>
                  <a:rPr lang="en-US" sz="2400" dirty="0"/>
                  <a:t> </a:t>
                </a:r>
                <a:r>
                  <a:rPr lang="en-US" sz="2400" dirty="0" err="1"/>
                  <a:t>হলে</a:t>
                </a:r>
                <a:r>
                  <a:rPr lang="en-US" sz="2400" dirty="0"/>
                  <a:t>,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31D261-34C8-C909-95D1-25B9030C3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987" y="2137558"/>
                <a:ext cx="7201651" cy="461665"/>
              </a:xfrm>
              <a:prstGeom prst="rect">
                <a:avLst/>
              </a:prstGeom>
              <a:blipFill>
                <a:blip r:embed="rId6"/>
                <a:stretch>
                  <a:fillRect l="-1355" t="-10667" r="-339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2616CF-9071-9C48-82DE-33E255352518}"/>
                  </a:ext>
                </a:extLst>
              </p:cNvPr>
              <p:cNvSpPr txBox="1"/>
              <p:nvPr/>
            </p:nvSpPr>
            <p:spPr>
              <a:xfrm>
                <a:off x="6096000" y="3291344"/>
                <a:ext cx="3435236" cy="602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(x1,y1)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2616CF-9071-9C48-82DE-33E255352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291344"/>
                <a:ext cx="3435236" cy="602665"/>
              </a:xfrm>
              <a:prstGeom prst="rect">
                <a:avLst/>
              </a:prstGeom>
              <a:blipFill>
                <a:blip r:embed="rId7"/>
                <a:stretch>
                  <a:fillRect l="-2660" t="-2020" b="-5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2F4D54-0BF9-5A03-938D-742BA5A71189}"/>
                  </a:ext>
                </a:extLst>
              </p:cNvPr>
              <p:cNvSpPr txBox="1"/>
              <p:nvPr/>
            </p:nvSpPr>
            <p:spPr>
              <a:xfrm>
                <a:off x="6096000" y="4465142"/>
                <a:ext cx="2432438" cy="549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ad>
                        <m:radPr>
                          <m:deg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2F4D54-0BF9-5A03-938D-742BA5A71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465142"/>
                <a:ext cx="2432438" cy="5497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790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4A15-96D4-89AD-B386-824F1CBE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6661" y="2788555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sz="8000" dirty="0"/>
              <a:t>THANK YOU!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08DD7-931B-94E8-A3CB-5AC76222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F9A7-400C-4E01-AAFA-5A62D3319BFA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89026-F87D-E6AB-22B7-39A04A84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Doniel Tripura</a:t>
            </a:r>
          </a:p>
        </p:txBody>
      </p:sp>
    </p:spTree>
    <p:extLst>
      <p:ext uri="{BB962C8B-B14F-4D97-AF65-F5344CB8AC3E}">
        <p14:creationId xmlns:p14="http://schemas.microsoft.com/office/powerpoint/2010/main" val="162835366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692</TotalTime>
  <Words>1271</Words>
  <Application>Microsoft Office PowerPoint</Application>
  <PresentationFormat>Widescreen</PresentationFormat>
  <Paragraphs>259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 Math</vt:lpstr>
      <vt:lpstr>Century Gothic</vt:lpstr>
      <vt:lpstr>Wingdings 3</vt:lpstr>
      <vt:lpstr>Wisp</vt:lpstr>
      <vt:lpstr>বৃত্ত (Circle)</vt:lpstr>
      <vt:lpstr>বৃত্ত পরিচিতি</vt:lpstr>
      <vt:lpstr>বৃত্তের সমীকরণ</vt:lpstr>
      <vt:lpstr>বৃত্তের সমীকরণ</vt:lpstr>
      <vt:lpstr>বৃত্তের সমীকরণ</vt:lpstr>
      <vt:lpstr>প্রমিত থেকে সাধারণ সমীকরণ নির্ণয়</vt:lpstr>
      <vt:lpstr>সাধারণ থেকে প্রমিত সমীকরণ নির্ণয়</vt:lpstr>
      <vt:lpstr>বৃত্তের সমীকরণ</vt:lpstr>
      <vt:lpstr>প্রশ্নোত্তর পর্ব - ০১</vt:lpstr>
      <vt:lpstr>বৃত্তের সমীকরণ</vt:lpstr>
      <vt:lpstr>বৃত্তের সাধারণ সমীকরণের বৈশিষ্ট্যসমূহ </vt:lpstr>
      <vt:lpstr>প্রশ্নোত্তর পর্ব - ০২</vt:lpstr>
      <vt:lpstr>বৃত্তের কিছু বৈশিষ্ট্য</vt:lpstr>
      <vt:lpstr>বৃত্তের কিছু বৈশিষ্ট্য</vt:lpstr>
      <vt:lpstr>বৃত্তের কিছু বৈশিষ্ট্য</vt:lpstr>
      <vt:lpstr>বৃত্তের কিছু বৈশিষ্ট্য</vt:lpstr>
      <vt:lpstr>বৃত্তের কিছু বৈশিষ্ট্য</vt:lpstr>
      <vt:lpstr>বৃত্তের কিছু বৈশিষ্ট্য</vt:lpstr>
      <vt:lpstr>বৃত্তের কিছু বৈশিষ্ট্য</vt:lpstr>
      <vt:lpstr>বৃত্তের কিছু বৈশিষ্ট্য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Doniel Tripura</dc:creator>
  <cp:lastModifiedBy>Doniel Tripura</cp:lastModifiedBy>
  <cp:revision>30</cp:revision>
  <dcterms:created xsi:type="dcterms:W3CDTF">2024-10-07T17:36:39Z</dcterms:created>
  <dcterms:modified xsi:type="dcterms:W3CDTF">2024-10-08T18:11:56Z</dcterms:modified>
</cp:coreProperties>
</file>